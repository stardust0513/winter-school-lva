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2" r:id="rId2"/>
    <p:sldId id="303" r:id="rId3"/>
    <p:sldId id="317" r:id="rId4"/>
    <p:sldId id="304" r:id="rId5"/>
    <p:sldId id="319" r:id="rId6"/>
    <p:sldId id="305" r:id="rId7"/>
    <p:sldId id="316" r:id="rId8"/>
    <p:sldId id="318" r:id="rId9"/>
    <p:sldId id="306" r:id="rId10"/>
    <p:sldId id="320" r:id="rId11"/>
    <p:sldId id="308" r:id="rId12"/>
    <p:sldId id="309" r:id="rId13"/>
    <p:sldId id="307" r:id="rId14"/>
    <p:sldId id="310" r:id="rId15"/>
    <p:sldId id="311" r:id="rId16"/>
    <p:sldId id="312" r:id="rId17"/>
    <p:sldId id="321" r:id="rId18"/>
    <p:sldId id="313" r:id="rId19"/>
    <p:sldId id="314" r:id="rId20"/>
    <p:sldId id="315" r:id="rId21"/>
    <p:sldId id="322" r:id="rId22"/>
    <p:sldId id="297" r:id="rId2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A096"/>
    <a:srgbClr val="5CE6DC"/>
    <a:srgbClr val="EE2821"/>
    <a:srgbClr val="324B85"/>
    <a:srgbClr val="F2A16A"/>
    <a:srgbClr val="F6AF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93939" autoAdjust="0"/>
  </p:normalViewPr>
  <p:slideViewPr>
    <p:cSldViewPr snapToGrid="0">
      <p:cViewPr varScale="1">
        <p:scale>
          <a:sx n="83" d="100"/>
          <a:sy n="83" d="100"/>
        </p:scale>
        <p:origin x="306"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121E58-9892-48A1-9C29-444DE8928BB4}" type="datetimeFigureOut">
              <a:rPr lang="fr-FR" smtClean="0"/>
              <a:t>20/01/2026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668AA5-FC20-4ADC-8616-40C90ECE82C6}" type="slidenum">
              <a:rPr lang="fr-FR" smtClean="0"/>
              <a:t>‹N°›</a:t>
            </a:fld>
            <a:endParaRPr lang="fr-FR"/>
          </a:p>
        </p:txBody>
      </p:sp>
    </p:spTree>
    <p:extLst>
      <p:ext uri="{BB962C8B-B14F-4D97-AF65-F5344CB8AC3E}">
        <p14:creationId xmlns:p14="http://schemas.microsoft.com/office/powerpoint/2010/main" val="3412851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Hi everyone. In this short talk, I’ll give a beginner-friendly view of deep learning and how </a:t>
            </a:r>
            <a:r>
              <a:rPr lang="en-US" dirty="0" err="1"/>
              <a:t>PyTorch</a:t>
            </a:r>
            <a:r>
              <a:rPr lang="en-US" dirty="0"/>
              <a:t> fits into the workflow. The goal is not to make you experts, but to make the training loop feel intuitive: forward pass, loss, backpropagation, and evaluation</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1</a:t>
            </a:fld>
            <a:endParaRPr lang="fr-FR"/>
          </a:p>
        </p:txBody>
      </p:sp>
    </p:spTree>
    <p:extLst>
      <p:ext uri="{BB962C8B-B14F-4D97-AF65-F5344CB8AC3E}">
        <p14:creationId xmlns:p14="http://schemas.microsoft.com/office/powerpoint/2010/main" val="1685258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I’ll start with a quick map of AI/ML/DL/</a:t>
            </a:r>
            <a:r>
              <a:rPr lang="en-US" dirty="0" err="1"/>
              <a:t>GenAI</a:t>
            </a:r>
            <a:r>
              <a:rPr lang="en-US" dirty="0"/>
              <a:t>, then we’ll open the black box: what a network computes in the forward pass, how we define a loss, how gradients update weights, and how we check if the model generalizes.</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2</a:t>
            </a:fld>
            <a:endParaRPr lang="fr-FR"/>
          </a:p>
        </p:txBody>
      </p:sp>
    </p:spTree>
    <p:extLst>
      <p:ext uri="{BB962C8B-B14F-4D97-AF65-F5344CB8AC3E}">
        <p14:creationId xmlns:p14="http://schemas.microsoft.com/office/powerpoint/2010/main" val="4241872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3</a:t>
            </a:fld>
            <a:endParaRPr lang="fr-FR"/>
          </a:p>
        </p:txBody>
      </p:sp>
    </p:spTree>
    <p:extLst>
      <p:ext uri="{BB962C8B-B14F-4D97-AF65-F5344CB8AC3E}">
        <p14:creationId xmlns:p14="http://schemas.microsoft.com/office/powerpoint/2010/main" val="4182006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AI is the big umbrella: systems that perform tasks that look ‘intelligent’. Machine learning is a subset where we don’t hand-code rules; we learn patterns from data. Deep learning is a subset of ML using multi-layer neural networks. And Generative AI is about producing new content—text, images, audio—typically using deep learning models trained on large datasets.</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4</a:t>
            </a:fld>
            <a:endParaRPr lang="fr-FR"/>
          </a:p>
        </p:txBody>
      </p:sp>
    </p:spTree>
    <p:extLst>
      <p:ext uri="{BB962C8B-B14F-4D97-AF65-F5344CB8AC3E}">
        <p14:creationId xmlns:p14="http://schemas.microsoft.com/office/powerpoint/2010/main" val="2747187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5</a:t>
            </a:fld>
            <a:endParaRPr lang="fr-FR"/>
          </a:p>
        </p:txBody>
      </p:sp>
    </p:spTree>
    <p:extLst>
      <p:ext uri="{BB962C8B-B14F-4D97-AF65-F5344CB8AC3E}">
        <p14:creationId xmlns:p14="http://schemas.microsoft.com/office/powerpoint/2010/main" val="3371796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A deep neural network is basically a function built by stacking simpler functions. Each layer mixes inputs linearly using weights, then applies a nonlinear activation. Stacking these layers gives a flexible model that can represent complex patterns.</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6</a:t>
            </a:fld>
            <a:endParaRPr lang="fr-FR"/>
          </a:p>
        </p:txBody>
      </p:sp>
    </p:spTree>
    <p:extLst>
      <p:ext uri="{BB962C8B-B14F-4D97-AF65-F5344CB8AC3E}">
        <p14:creationId xmlns:p14="http://schemas.microsoft.com/office/powerpoint/2010/main" val="3952774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A deep neural network is basically a function built by stacking simpler functions. Each layer mixes inputs linearly using weights, then applies a nonlinear activation. Stacking these layers gives a flexible model that can represent complex patterns.</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7</a:t>
            </a:fld>
            <a:endParaRPr lang="fr-FR"/>
          </a:p>
        </p:txBody>
      </p:sp>
    </p:spTree>
    <p:extLst>
      <p:ext uri="{BB962C8B-B14F-4D97-AF65-F5344CB8AC3E}">
        <p14:creationId xmlns:p14="http://schemas.microsoft.com/office/powerpoint/2010/main" val="354953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8</a:t>
            </a:fld>
            <a:endParaRPr lang="fr-FR"/>
          </a:p>
        </p:txBody>
      </p:sp>
    </p:spTree>
    <p:extLst>
      <p:ext uri="{BB962C8B-B14F-4D97-AF65-F5344CB8AC3E}">
        <p14:creationId xmlns:p14="http://schemas.microsoft.com/office/powerpoint/2010/main" val="998102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Let’s zoom into one neuron. It takes an input vector xxx, computes a weighted sum plus a bias: z=</a:t>
            </a:r>
            <a:r>
              <a:rPr lang="en-US" dirty="0" err="1"/>
              <a:t>wTx+bz</a:t>
            </a:r>
            <a:r>
              <a:rPr lang="en-US" dirty="0"/>
              <a:t> = </a:t>
            </a:r>
            <a:r>
              <a:rPr lang="en-US" dirty="0" err="1"/>
              <a:t>w^T</a:t>
            </a:r>
            <a:r>
              <a:rPr lang="en-US" dirty="0"/>
              <a:t> x + </a:t>
            </a:r>
            <a:r>
              <a:rPr lang="en-US" dirty="0" err="1"/>
              <a:t>bz</a:t>
            </a:r>
            <a:r>
              <a:rPr lang="en-US" dirty="0"/>
              <a:t>=</a:t>
            </a:r>
            <a:r>
              <a:rPr lang="en-US" dirty="0" err="1"/>
              <a:t>wTx+b</a:t>
            </a:r>
            <a:r>
              <a:rPr lang="en-US" dirty="0"/>
              <a:t>. Then we apply an activation a=ϕ(z)a=\phi(z)a=ϕ(z). The weights control what the neuron is ‘looking for’ in the input. The bias shifts the threshold. This is the basic building block of deep learning</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9</a:t>
            </a:fld>
            <a:endParaRPr lang="fr-FR"/>
          </a:p>
        </p:txBody>
      </p:sp>
    </p:spTree>
    <p:extLst>
      <p:ext uri="{BB962C8B-B14F-4D97-AF65-F5344CB8AC3E}">
        <p14:creationId xmlns:p14="http://schemas.microsoft.com/office/powerpoint/2010/main" val="30388395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Now</a:t>
            </a:r>
            <a:r>
              <a:rPr lang="fr-FR" dirty="0"/>
              <a:t> </a:t>
            </a:r>
            <a:r>
              <a:rPr lang="fr-FR" dirty="0" err="1"/>
              <a:t>we</a:t>
            </a:r>
            <a:r>
              <a:rPr lang="fr-FR" dirty="0"/>
              <a:t> stack </a:t>
            </a:r>
            <a:r>
              <a:rPr lang="fr-FR" dirty="0" err="1"/>
              <a:t>neurons</a:t>
            </a:r>
            <a:r>
              <a:rPr lang="fr-FR" dirty="0"/>
              <a:t> </a:t>
            </a:r>
            <a:r>
              <a:rPr lang="fr-FR" dirty="0" err="1"/>
              <a:t>into</a:t>
            </a:r>
            <a:r>
              <a:rPr lang="fr-FR" dirty="0"/>
              <a:t> </a:t>
            </a:r>
            <a:r>
              <a:rPr lang="fr-FR" dirty="0" err="1"/>
              <a:t>layers</a:t>
            </a:r>
            <a:r>
              <a:rPr lang="fr-FR" dirty="0"/>
              <a:t>. In layer </a:t>
            </a:r>
            <a:r>
              <a:rPr lang="fr-FR" dirty="0" err="1"/>
              <a:t>lll</a:t>
            </a:r>
            <a:r>
              <a:rPr lang="fr-FR" dirty="0"/>
              <a:t>, </a:t>
            </a:r>
            <a:r>
              <a:rPr lang="fr-FR" dirty="0" err="1"/>
              <a:t>we</a:t>
            </a:r>
            <a:r>
              <a:rPr lang="fr-FR" dirty="0"/>
              <a:t> </a:t>
            </a:r>
            <a:r>
              <a:rPr lang="fr-FR" dirty="0" err="1"/>
              <a:t>compute</a:t>
            </a:r>
            <a:r>
              <a:rPr lang="fr-FR" dirty="0"/>
              <a:t> z(l)=W(l)a(l−1)+b(l)z^{(l)} = W^{(l)}a^{(l-1)} + b^{(l)}z(l)=W(l)a(l−1)+b(l), </a:t>
            </a:r>
            <a:r>
              <a:rPr lang="fr-FR" dirty="0" err="1"/>
              <a:t>then</a:t>
            </a:r>
            <a:r>
              <a:rPr lang="fr-FR" dirty="0"/>
              <a:t> </a:t>
            </a:r>
            <a:r>
              <a:rPr lang="fr-FR" dirty="0" err="1"/>
              <a:t>apply</a:t>
            </a:r>
            <a:r>
              <a:rPr lang="fr-FR" dirty="0"/>
              <a:t> the activation a(l)=</a:t>
            </a:r>
            <a:r>
              <a:rPr lang="el-GR" dirty="0"/>
              <a:t>ϕ(</a:t>
            </a:r>
            <a:r>
              <a:rPr lang="fr-FR" dirty="0"/>
              <a:t>l)(z(l))a^{(l)}=\phi^{(l)}(z^{(l)})a(l)=</a:t>
            </a:r>
            <a:r>
              <a:rPr lang="el-GR" dirty="0"/>
              <a:t>ϕ(</a:t>
            </a:r>
            <a:r>
              <a:rPr lang="fr-FR" dirty="0"/>
              <a:t>l)(z(l)). The full network </a:t>
            </a:r>
            <a:r>
              <a:rPr lang="fr-FR" dirty="0" err="1"/>
              <a:t>is</a:t>
            </a:r>
            <a:r>
              <a:rPr lang="fr-FR" dirty="0"/>
              <a:t> </a:t>
            </a:r>
            <a:r>
              <a:rPr lang="fr-FR" dirty="0" err="1"/>
              <a:t>just</a:t>
            </a:r>
            <a:r>
              <a:rPr lang="fr-FR" dirty="0"/>
              <a:t> </a:t>
            </a:r>
            <a:r>
              <a:rPr lang="fr-FR" dirty="0" err="1"/>
              <a:t>repeating</a:t>
            </a:r>
            <a:r>
              <a:rPr lang="fr-FR" dirty="0"/>
              <a:t> </a:t>
            </a:r>
            <a:r>
              <a:rPr lang="fr-FR" dirty="0" err="1"/>
              <a:t>this</a:t>
            </a:r>
            <a:r>
              <a:rPr lang="fr-FR" dirty="0"/>
              <a:t> </a:t>
            </a:r>
            <a:r>
              <a:rPr lang="fr-FR" dirty="0" err="1"/>
              <a:t>until</a:t>
            </a:r>
            <a:r>
              <a:rPr lang="fr-FR" dirty="0"/>
              <a:t> the output y^\</a:t>
            </a:r>
            <a:r>
              <a:rPr lang="fr-FR" dirty="0" err="1"/>
              <a:t>hat</a:t>
            </a:r>
            <a:r>
              <a:rPr lang="fr-FR" dirty="0"/>
              <a:t>{y}y^​. This computation </a:t>
            </a:r>
            <a:r>
              <a:rPr lang="fr-FR" dirty="0" err="1"/>
              <a:t>is</a:t>
            </a:r>
            <a:r>
              <a:rPr lang="fr-FR" dirty="0"/>
              <a:t> the </a:t>
            </a:r>
            <a:r>
              <a:rPr lang="fr-FR" dirty="0" err="1"/>
              <a:t>forward</a:t>
            </a:r>
            <a:r>
              <a:rPr lang="fr-FR" dirty="0"/>
              <a:t> </a:t>
            </a:r>
            <a:r>
              <a:rPr lang="fr-FR" dirty="0" err="1"/>
              <a:t>pass</a:t>
            </a:r>
            <a:r>
              <a:rPr lang="fr-FR" dirty="0"/>
              <a:t>.</a:t>
            </a:r>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10</a:t>
            </a:fld>
            <a:endParaRPr lang="fr-FR"/>
          </a:p>
        </p:txBody>
      </p:sp>
    </p:spTree>
    <p:extLst>
      <p:ext uri="{BB962C8B-B14F-4D97-AF65-F5344CB8AC3E}">
        <p14:creationId xmlns:p14="http://schemas.microsoft.com/office/powerpoint/2010/main" val="691280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If all activations were linear, stacking layers would still be a linear function—so depth would not help. Nonlinear activations make the model expressive. </a:t>
            </a:r>
            <a:r>
              <a:rPr lang="en-US" dirty="0" err="1"/>
              <a:t>ReLU</a:t>
            </a:r>
            <a:r>
              <a:rPr lang="en-US" dirty="0"/>
              <a:t> is popular because it’s simple and helps gradients flow. Sigmoid/</a:t>
            </a:r>
            <a:r>
              <a:rPr lang="en-US" dirty="0" err="1"/>
              <a:t>softmax</a:t>
            </a:r>
            <a:r>
              <a:rPr lang="en-US" dirty="0"/>
              <a:t> are often used at the output to represent probabilities.</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11</a:t>
            </a:fld>
            <a:endParaRPr lang="fr-FR"/>
          </a:p>
        </p:txBody>
      </p:sp>
    </p:spTree>
    <p:extLst>
      <p:ext uri="{BB962C8B-B14F-4D97-AF65-F5344CB8AC3E}">
        <p14:creationId xmlns:p14="http://schemas.microsoft.com/office/powerpoint/2010/main" val="25213698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There’s a classic result: sufficiently large neural networks with nonlinear activations can approximate a wide class of functions. In practice, deep networks are useful because they can learn representations—features—automatically, often more efficiently than shallow models.</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12</a:t>
            </a:fld>
            <a:endParaRPr lang="fr-FR"/>
          </a:p>
        </p:txBody>
      </p:sp>
    </p:spTree>
    <p:extLst>
      <p:ext uri="{BB962C8B-B14F-4D97-AF65-F5344CB8AC3E}">
        <p14:creationId xmlns:p14="http://schemas.microsoft.com/office/powerpoint/2010/main" val="183860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13</a:t>
            </a:fld>
            <a:endParaRPr lang="fr-FR"/>
          </a:p>
        </p:txBody>
      </p:sp>
    </p:spTree>
    <p:extLst>
      <p:ext uri="{BB962C8B-B14F-4D97-AF65-F5344CB8AC3E}">
        <p14:creationId xmlns:p14="http://schemas.microsoft.com/office/powerpoint/2010/main" val="1459508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The network outputs a prediction y^\hat{y}y^​. To learn, we need a loss function that tells us how wrong we are compared to the true label </a:t>
            </a:r>
            <a:r>
              <a:rPr lang="en-US" dirty="0" err="1"/>
              <a:t>yyy</a:t>
            </a:r>
            <a:r>
              <a:rPr lang="en-US" dirty="0"/>
              <a:t>. Training becomes an optimization problem: find parameters θ\</a:t>
            </a:r>
            <a:r>
              <a:rPr lang="en-US" dirty="0" err="1"/>
              <a:t>thetaθ</a:t>
            </a:r>
            <a:r>
              <a:rPr lang="en-US" dirty="0"/>
              <a:t> that minimize the average loss over the dataset.</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14</a:t>
            </a:fld>
            <a:endParaRPr lang="fr-FR"/>
          </a:p>
        </p:txBody>
      </p:sp>
    </p:spTree>
    <p:extLst>
      <p:ext uri="{BB962C8B-B14F-4D97-AF65-F5344CB8AC3E}">
        <p14:creationId xmlns:p14="http://schemas.microsoft.com/office/powerpoint/2010/main" val="26247271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To reduce the loss, we need to know how each parameter influences it. Backpropagation applies the chain rule efficiently to compute gradients of the loss with respect to every weight and bias. These gradients tell us the direction to change parameters to reduce the loss</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15</a:t>
            </a:fld>
            <a:endParaRPr lang="fr-FR"/>
          </a:p>
        </p:txBody>
      </p:sp>
    </p:spTree>
    <p:extLst>
      <p:ext uri="{BB962C8B-B14F-4D97-AF65-F5344CB8AC3E}">
        <p14:creationId xmlns:p14="http://schemas.microsoft.com/office/powerpoint/2010/main" val="20098691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A model can fit the training data too well and fail on new data—that’s overfitting. Regularization adds constraints or noise to encourage simpler solutions. Common examples are L2 weight decay, dropout, and early stopping.</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16</a:t>
            </a:fld>
            <a:endParaRPr lang="fr-FR"/>
          </a:p>
        </p:txBody>
      </p:sp>
    </p:spTree>
    <p:extLst>
      <p:ext uri="{BB962C8B-B14F-4D97-AF65-F5344CB8AC3E}">
        <p14:creationId xmlns:p14="http://schemas.microsoft.com/office/powerpoint/2010/main" val="12420495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17</a:t>
            </a:fld>
            <a:endParaRPr lang="fr-FR"/>
          </a:p>
        </p:txBody>
      </p:sp>
    </p:spTree>
    <p:extLst>
      <p:ext uri="{BB962C8B-B14F-4D97-AF65-F5344CB8AC3E}">
        <p14:creationId xmlns:p14="http://schemas.microsoft.com/office/powerpoint/2010/main" val="30790529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After training, we still need to decide hyperparameters like learning rate, batch size, weight decay, number of layers. We tune these using the validation set, then report final performance once on the test set. Grid search is a simple method: try combinations and keep the best.</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18</a:t>
            </a:fld>
            <a:endParaRPr lang="fr-FR"/>
          </a:p>
        </p:txBody>
      </p:sp>
    </p:spTree>
    <p:extLst>
      <p:ext uri="{BB962C8B-B14F-4D97-AF65-F5344CB8AC3E}">
        <p14:creationId xmlns:p14="http://schemas.microsoft.com/office/powerpoint/2010/main" val="790150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Loss is what we optimize during training, but metrics are what we use to interpret performance. For classification we often use accuracy, precision/recall, F1. For regression we use MAE or MSE. The choice depends on what errors matter in your application.</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19</a:t>
            </a:fld>
            <a:endParaRPr lang="fr-FR"/>
          </a:p>
        </p:txBody>
      </p:sp>
    </p:spTree>
    <p:extLst>
      <p:ext uri="{BB962C8B-B14F-4D97-AF65-F5344CB8AC3E}">
        <p14:creationId xmlns:p14="http://schemas.microsoft.com/office/powerpoint/2010/main" val="42723009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Learning curves are one of the fastest ways to debug training. If both training and validation losses are high, the model underfits. If training loss is low but validation loss stops improving or increases, the model overfits. This guides what to change: model size, regularization, data, or training time</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20</a:t>
            </a:fld>
            <a:endParaRPr lang="fr-FR"/>
          </a:p>
        </p:txBody>
      </p:sp>
    </p:spTree>
    <p:extLst>
      <p:ext uri="{BB962C8B-B14F-4D97-AF65-F5344CB8AC3E}">
        <p14:creationId xmlns:p14="http://schemas.microsoft.com/office/powerpoint/2010/main" val="22386329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21</a:t>
            </a:fld>
            <a:endParaRPr lang="fr-FR"/>
          </a:p>
        </p:txBody>
      </p:sp>
    </p:spTree>
    <p:extLst>
      <p:ext uri="{BB962C8B-B14F-4D97-AF65-F5344CB8AC3E}">
        <p14:creationId xmlns:p14="http://schemas.microsoft.com/office/powerpoint/2010/main" val="701790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Thanks for your attention. If you want, I can also share a tiny </a:t>
            </a:r>
            <a:r>
              <a:rPr lang="en-US" dirty="0" err="1"/>
              <a:t>PyTorch</a:t>
            </a:r>
            <a:r>
              <a:rPr lang="en-US"/>
              <a:t> snippet that shows the forward pass, loss, and optimizer steps in a few lines.</a:t>
            </a:r>
            <a:endParaRPr lang="fr-FR" dirty="0"/>
          </a:p>
        </p:txBody>
      </p:sp>
      <p:sp>
        <p:nvSpPr>
          <p:cNvPr id="4" name="Espace réservé du numéro de diapositive 3"/>
          <p:cNvSpPr>
            <a:spLocks noGrp="1"/>
          </p:cNvSpPr>
          <p:nvPr>
            <p:ph type="sldNum" sz="quarter" idx="5"/>
          </p:nvPr>
        </p:nvSpPr>
        <p:spPr/>
        <p:txBody>
          <a:bodyPr/>
          <a:lstStyle/>
          <a:p>
            <a:fld id="{52668AA5-FC20-4ADC-8616-40C90ECE82C6}" type="slidenum">
              <a:rPr lang="fr-FR" smtClean="0"/>
              <a:t>22</a:t>
            </a:fld>
            <a:endParaRPr lang="fr-FR"/>
          </a:p>
        </p:txBody>
      </p:sp>
    </p:spTree>
    <p:extLst>
      <p:ext uri="{BB962C8B-B14F-4D97-AF65-F5344CB8AC3E}">
        <p14:creationId xmlns:p14="http://schemas.microsoft.com/office/powerpoint/2010/main" val="3604291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16F94214-4E90-48C7-AC3A-159A92A47445}" type="datetimeFigureOut">
              <a:rPr lang="es-ES" smtClean="0"/>
              <a:t>20/01/2026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743121C-F27F-4BFE-A61A-B2E716B8BFF2}" type="slidenum">
              <a:rPr lang="es-ES" smtClean="0"/>
              <a:t>‹N°›</a:t>
            </a:fld>
            <a:endParaRPr lang="es-ES"/>
          </a:p>
        </p:txBody>
      </p:sp>
    </p:spTree>
    <p:extLst>
      <p:ext uri="{BB962C8B-B14F-4D97-AF65-F5344CB8AC3E}">
        <p14:creationId xmlns:p14="http://schemas.microsoft.com/office/powerpoint/2010/main" val="2521148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16F94214-4E90-48C7-AC3A-159A92A47445}" type="datetimeFigureOut">
              <a:rPr lang="es-ES" smtClean="0"/>
              <a:t>20/01/2026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743121C-F27F-4BFE-A61A-B2E716B8BFF2}" type="slidenum">
              <a:rPr lang="es-ES" smtClean="0"/>
              <a:t>‹N°›</a:t>
            </a:fld>
            <a:endParaRPr lang="es-ES"/>
          </a:p>
        </p:txBody>
      </p:sp>
    </p:spTree>
    <p:extLst>
      <p:ext uri="{BB962C8B-B14F-4D97-AF65-F5344CB8AC3E}">
        <p14:creationId xmlns:p14="http://schemas.microsoft.com/office/powerpoint/2010/main" val="2904840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16F94214-4E90-48C7-AC3A-159A92A47445}" type="datetimeFigureOut">
              <a:rPr lang="es-ES" smtClean="0"/>
              <a:t>20/01/2026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743121C-F27F-4BFE-A61A-B2E716B8BFF2}" type="slidenum">
              <a:rPr lang="es-ES" smtClean="0"/>
              <a:t>‹N°›</a:t>
            </a:fld>
            <a:endParaRPr lang="es-ES"/>
          </a:p>
        </p:txBody>
      </p:sp>
    </p:spTree>
    <p:extLst>
      <p:ext uri="{BB962C8B-B14F-4D97-AF65-F5344CB8AC3E}">
        <p14:creationId xmlns:p14="http://schemas.microsoft.com/office/powerpoint/2010/main" val="4256806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16F94214-4E90-48C7-AC3A-159A92A47445}" type="datetimeFigureOut">
              <a:rPr lang="es-ES" smtClean="0"/>
              <a:t>20/01/2026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9743121C-F27F-4BFE-A61A-B2E716B8BFF2}" type="slidenum">
              <a:rPr lang="es-ES" smtClean="0"/>
              <a:t>‹N°›</a:t>
            </a:fld>
            <a:endParaRPr lang="es-ES"/>
          </a:p>
        </p:txBody>
      </p:sp>
    </p:spTree>
    <p:extLst>
      <p:ext uri="{BB962C8B-B14F-4D97-AF65-F5344CB8AC3E}">
        <p14:creationId xmlns:p14="http://schemas.microsoft.com/office/powerpoint/2010/main" val="1011331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16F94214-4E90-48C7-AC3A-159A92A47445}" type="datetimeFigureOut">
              <a:rPr lang="es-ES" smtClean="0"/>
              <a:t>20/01/2026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9743121C-F27F-4BFE-A61A-B2E716B8BFF2}" type="slidenum">
              <a:rPr lang="es-ES" smtClean="0"/>
              <a:t>‹N°›</a:t>
            </a:fld>
            <a:endParaRPr lang="es-ES"/>
          </a:p>
        </p:txBody>
      </p:sp>
    </p:spTree>
    <p:extLst>
      <p:ext uri="{BB962C8B-B14F-4D97-AF65-F5344CB8AC3E}">
        <p14:creationId xmlns:p14="http://schemas.microsoft.com/office/powerpoint/2010/main" val="2832000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16F94214-4E90-48C7-AC3A-159A92A47445}" type="datetimeFigureOut">
              <a:rPr lang="es-ES" smtClean="0"/>
              <a:t>20/01/2026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9743121C-F27F-4BFE-A61A-B2E716B8BFF2}" type="slidenum">
              <a:rPr lang="es-ES" smtClean="0"/>
              <a:t>‹N°›</a:t>
            </a:fld>
            <a:endParaRPr lang="es-ES"/>
          </a:p>
        </p:txBody>
      </p:sp>
    </p:spTree>
    <p:extLst>
      <p:ext uri="{BB962C8B-B14F-4D97-AF65-F5344CB8AC3E}">
        <p14:creationId xmlns:p14="http://schemas.microsoft.com/office/powerpoint/2010/main" val="3007262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6F94214-4E90-48C7-AC3A-159A92A47445}" type="datetimeFigureOut">
              <a:rPr lang="es-ES" smtClean="0"/>
              <a:t>20/01/2026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9743121C-F27F-4BFE-A61A-B2E716B8BFF2}" type="slidenum">
              <a:rPr lang="es-ES" smtClean="0"/>
              <a:t>‹N°›</a:t>
            </a:fld>
            <a:endParaRPr lang="es-ES"/>
          </a:p>
        </p:txBody>
      </p:sp>
    </p:spTree>
    <p:extLst>
      <p:ext uri="{BB962C8B-B14F-4D97-AF65-F5344CB8AC3E}">
        <p14:creationId xmlns:p14="http://schemas.microsoft.com/office/powerpoint/2010/main" val="912573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16F94214-4E90-48C7-AC3A-159A92A47445}" type="datetimeFigureOut">
              <a:rPr lang="es-ES" smtClean="0"/>
              <a:t>20/01/2026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9743121C-F27F-4BFE-A61A-B2E716B8BFF2}" type="slidenum">
              <a:rPr lang="es-ES" smtClean="0"/>
              <a:t>‹N°›</a:t>
            </a:fld>
            <a:endParaRPr lang="es-ES"/>
          </a:p>
        </p:txBody>
      </p:sp>
    </p:spTree>
    <p:extLst>
      <p:ext uri="{BB962C8B-B14F-4D97-AF65-F5344CB8AC3E}">
        <p14:creationId xmlns:p14="http://schemas.microsoft.com/office/powerpoint/2010/main" val="1299510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16F94214-4E90-48C7-AC3A-159A92A47445}" type="datetimeFigureOut">
              <a:rPr lang="es-ES" smtClean="0"/>
              <a:t>20/01/2026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9743121C-F27F-4BFE-A61A-B2E716B8BFF2}" type="slidenum">
              <a:rPr lang="es-ES" smtClean="0"/>
              <a:t>‹N°›</a:t>
            </a:fld>
            <a:endParaRPr lang="es-ES"/>
          </a:p>
        </p:txBody>
      </p:sp>
    </p:spTree>
    <p:extLst>
      <p:ext uri="{BB962C8B-B14F-4D97-AF65-F5344CB8AC3E}">
        <p14:creationId xmlns:p14="http://schemas.microsoft.com/office/powerpoint/2010/main" val="3320355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16F94214-4E90-48C7-AC3A-159A92A47445}" type="datetimeFigureOut">
              <a:rPr lang="es-ES" smtClean="0"/>
              <a:t>20/01/2026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743121C-F27F-4BFE-A61A-B2E716B8BFF2}" type="slidenum">
              <a:rPr lang="es-ES" smtClean="0"/>
              <a:t>‹N°›</a:t>
            </a:fld>
            <a:endParaRPr lang="es-ES"/>
          </a:p>
        </p:txBody>
      </p:sp>
    </p:spTree>
    <p:extLst>
      <p:ext uri="{BB962C8B-B14F-4D97-AF65-F5344CB8AC3E}">
        <p14:creationId xmlns:p14="http://schemas.microsoft.com/office/powerpoint/2010/main" val="425694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16F94214-4E90-48C7-AC3A-159A92A47445}" type="datetimeFigureOut">
              <a:rPr lang="es-ES" smtClean="0"/>
              <a:t>20/01/2026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743121C-F27F-4BFE-A61A-B2E716B8BFF2}" type="slidenum">
              <a:rPr lang="es-ES" smtClean="0"/>
              <a:t>‹N°›</a:t>
            </a:fld>
            <a:endParaRPr lang="es-ES"/>
          </a:p>
        </p:txBody>
      </p:sp>
    </p:spTree>
    <p:extLst>
      <p:ext uri="{BB962C8B-B14F-4D97-AF65-F5344CB8AC3E}">
        <p14:creationId xmlns:p14="http://schemas.microsoft.com/office/powerpoint/2010/main" val="2786977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Haga clic para modificar el estilo de título del patrón</a:t>
            </a:r>
          </a:p>
        </p:txBody>
      </p:sp>
      <p:sp>
        <p:nvSpPr>
          <p:cNvPr id="3" name="Marcador de fecha 2"/>
          <p:cNvSpPr>
            <a:spLocks noGrp="1"/>
          </p:cNvSpPr>
          <p:nvPr>
            <p:ph type="dt" sz="half" idx="10"/>
          </p:nvPr>
        </p:nvSpPr>
        <p:spPr/>
        <p:txBody>
          <a:bodyPr/>
          <a:lstStyle/>
          <a:p>
            <a:fld id="{16F94214-4E90-48C7-AC3A-159A92A47445}" type="datetimeFigureOut">
              <a:rPr lang="es-ES" smtClean="0"/>
              <a:t>20/01/2026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9743121C-F27F-4BFE-A61A-B2E716B8BFF2}" type="slidenum">
              <a:rPr lang="es-ES" smtClean="0"/>
              <a:t>‹N°›</a:t>
            </a:fld>
            <a:endParaRPr lang="es-ES"/>
          </a:p>
        </p:txBody>
      </p:sp>
    </p:spTree>
    <p:extLst>
      <p:ext uri="{BB962C8B-B14F-4D97-AF65-F5344CB8AC3E}">
        <p14:creationId xmlns:p14="http://schemas.microsoft.com/office/powerpoint/2010/main" val="2034187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t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2526762" y="365125"/>
            <a:ext cx="7162361" cy="1325563"/>
          </a:xfrm>
          <a:prstGeom prst="rect">
            <a:avLst/>
          </a:prstGeom>
        </p:spPr>
        <p:txBody>
          <a:bodyPr vert="horz" lIns="91440" tIns="45720" rIns="91440" bIns="45720" rtlCol="0" anchor="ctr">
            <a:normAutofit/>
          </a:bodyPr>
          <a:lstStyle/>
          <a:p>
            <a:r>
              <a:rPr lang="es-ES" dirty="0"/>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F94214-4E90-48C7-AC3A-159A92A47445}" type="datetimeFigureOut">
              <a:rPr lang="es-ES" smtClean="0"/>
              <a:t>20/01/2026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43121C-F27F-4BFE-A61A-B2E716B8BFF2}" type="slidenum">
              <a:rPr lang="es-ES" smtClean="0"/>
              <a:t>‹N°›</a:t>
            </a:fld>
            <a:endParaRPr lang="es-ES"/>
          </a:p>
        </p:txBody>
      </p:sp>
      <p:pic>
        <p:nvPicPr>
          <p:cNvPr id="7" name="Imagen 6"/>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240030" y="193521"/>
            <a:ext cx="1969770" cy="982980"/>
          </a:xfrm>
          <a:prstGeom prst="rect">
            <a:avLst/>
          </a:prstGeom>
        </p:spPr>
      </p:pic>
      <p:pic>
        <p:nvPicPr>
          <p:cNvPr id="8" name="Imagen 7"/>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906352" y="143918"/>
            <a:ext cx="875455" cy="883227"/>
          </a:xfrm>
          <a:prstGeom prst="rect">
            <a:avLst/>
          </a:prstGeom>
        </p:spPr>
      </p:pic>
      <p:pic>
        <p:nvPicPr>
          <p:cNvPr id="9" name="Imagen 8"/>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1098769" y="132061"/>
            <a:ext cx="838200" cy="838200"/>
          </a:xfrm>
          <a:prstGeom prst="rect">
            <a:avLst/>
          </a:prstGeom>
        </p:spPr>
      </p:pic>
    </p:spTree>
    <p:extLst>
      <p:ext uri="{BB962C8B-B14F-4D97-AF65-F5344CB8AC3E}">
        <p14:creationId xmlns:p14="http://schemas.microsoft.com/office/powerpoint/2010/main" val="994926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5.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5.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4.png"/><Relationship Id="rId4" Type="http://schemas.openxmlformats.org/officeDocument/2006/relationships/image" Target="../media/image28.png"/><Relationship Id="rId9"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5.png"/><Relationship Id="rId7"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4.png"/><Relationship Id="rId9"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43.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504243"/>
            <a:ext cx="10515600" cy="1975078"/>
          </a:xfrm>
        </p:spPr>
        <p:txBody>
          <a:bodyPr>
            <a:noAutofit/>
          </a:bodyPr>
          <a:lstStyle/>
          <a:p>
            <a:pPr algn="ctr"/>
            <a:r>
              <a:rPr lang="en-US" sz="4000" b="1" dirty="0"/>
              <a:t>Introduction to Deep Learning</a:t>
            </a:r>
          </a:p>
        </p:txBody>
      </p:sp>
      <p:sp>
        <p:nvSpPr>
          <p:cNvPr id="3" name="Marcador de texto 2"/>
          <p:cNvSpPr>
            <a:spLocks noGrp="1"/>
          </p:cNvSpPr>
          <p:nvPr>
            <p:ph type="body" idx="1"/>
          </p:nvPr>
        </p:nvSpPr>
        <p:spPr>
          <a:xfrm>
            <a:off x="838200" y="3993197"/>
            <a:ext cx="10515600" cy="1500187"/>
          </a:xfrm>
        </p:spPr>
        <p:txBody>
          <a:bodyPr>
            <a:normAutofit lnSpcReduction="10000"/>
          </a:bodyPr>
          <a:lstStyle/>
          <a:p>
            <a:pPr algn="ctr"/>
            <a:r>
              <a:rPr lang="en-US" sz="2000" dirty="0">
                <a:solidFill>
                  <a:schemeClr val="tx1"/>
                </a:solidFill>
              </a:rPr>
              <a:t>José Antônio MIRANDA MATTEI</a:t>
            </a:r>
          </a:p>
          <a:p>
            <a:pPr algn="ctr"/>
            <a:r>
              <a:rPr lang="en-US" sz="2000" dirty="0" err="1">
                <a:solidFill>
                  <a:schemeClr val="tx1"/>
                </a:solidFill>
              </a:rPr>
              <a:t>Songhao</a:t>
            </a:r>
            <a:r>
              <a:rPr lang="en-US" sz="2000" dirty="0">
                <a:solidFill>
                  <a:schemeClr val="tx1"/>
                </a:solidFill>
              </a:rPr>
              <a:t> GAO</a:t>
            </a:r>
          </a:p>
          <a:p>
            <a:pPr algn="ctr"/>
            <a:r>
              <a:rPr lang="en-US" sz="2000" dirty="0">
                <a:solidFill>
                  <a:schemeClr val="bg2">
                    <a:lumMod val="50000"/>
                  </a:schemeClr>
                </a:solidFill>
              </a:rPr>
              <a:t> Laboratory of Vibration and Acoustics (LVA), INSA Lyon</a:t>
            </a:r>
          </a:p>
          <a:p>
            <a:pPr algn="ctr"/>
            <a:r>
              <a:rPr lang="en-US" sz="2000" dirty="0">
                <a:solidFill>
                  <a:schemeClr val="bg2">
                    <a:lumMod val="50000"/>
                  </a:schemeClr>
                </a:solidFill>
              </a:rPr>
              <a:t>LVA Winter School - 2026</a:t>
            </a:r>
          </a:p>
        </p:txBody>
      </p:sp>
      <p:sp>
        <p:nvSpPr>
          <p:cNvPr id="12" name="ZoneTexte 11">
            <a:extLst>
              <a:ext uri="{FF2B5EF4-FFF2-40B4-BE49-F238E27FC236}">
                <a16:creationId xmlns:a16="http://schemas.microsoft.com/office/drawing/2014/main" id="{111E9EA9-4FCB-4AEA-85BF-DFB7C404CC0B}"/>
              </a:ext>
            </a:extLst>
          </p:cNvPr>
          <p:cNvSpPr txBox="1"/>
          <p:nvPr/>
        </p:nvSpPr>
        <p:spPr>
          <a:xfrm>
            <a:off x="289098" y="6460395"/>
            <a:ext cx="6773521" cy="369332"/>
          </a:xfrm>
          <a:prstGeom prst="rect">
            <a:avLst/>
          </a:prstGeom>
          <a:noFill/>
        </p:spPr>
        <p:txBody>
          <a:bodyPr wrap="none" rtlCol="0">
            <a:spAutoFit/>
          </a:bodyPr>
          <a:lstStyle/>
          <a:p>
            <a:r>
              <a:rPr lang="it-IT" dirty="0"/>
              <a:t>jose-antonio.miranda-mattei@insa-lyon.fr / songhao.gao@insa-lyon.fr</a:t>
            </a:r>
            <a:endParaRPr lang="fr-FR" dirty="0"/>
          </a:p>
        </p:txBody>
      </p:sp>
      <p:sp>
        <p:nvSpPr>
          <p:cNvPr id="15" name="Subtítulo 2">
            <a:extLst>
              <a:ext uri="{FF2B5EF4-FFF2-40B4-BE49-F238E27FC236}">
                <a16:creationId xmlns:a16="http://schemas.microsoft.com/office/drawing/2014/main" id="{2BA82D6C-5F77-49FA-AFAE-A609800D10F0}"/>
              </a:ext>
            </a:extLst>
          </p:cNvPr>
          <p:cNvSpPr txBox="1">
            <a:spLocks/>
          </p:cNvSpPr>
          <p:nvPr/>
        </p:nvSpPr>
        <p:spPr>
          <a:xfrm>
            <a:off x="3424582" y="5645060"/>
            <a:ext cx="5342835" cy="93953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US" sz="2000" dirty="0">
                <a:solidFill>
                  <a:schemeClr val="tx1"/>
                </a:solidFill>
              </a:rPr>
              <a:t>Prof. Jérôme ANTONI</a:t>
            </a:r>
          </a:p>
          <a:p>
            <a:pPr algn="ctr"/>
            <a:r>
              <a:rPr lang="en-US" sz="2000" dirty="0" err="1">
                <a:solidFill>
                  <a:schemeClr val="tx1"/>
                </a:solidFill>
              </a:rPr>
              <a:t>Valmorel</a:t>
            </a:r>
            <a:r>
              <a:rPr lang="en-US" sz="2000" dirty="0">
                <a:solidFill>
                  <a:schemeClr val="tx1"/>
                </a:solidFill>
              </a:rPr>
              <a:t>, France -  23/01/2026</a:t>
            </a:r>
          </a:p>
        </p:txBody>
      </p:sp>
      <p:sp>
        <p:nvSpPr>
          <p:cNvPr id="9" name="Rectangle 8">
            <a:extLst>
              <a:ext uri="{FF2B5EF4-FFF2-40B4-BE49-F238E27FC236}">
                <a16:creationId xmlns:a16="http://schemas.microsoft.com/office/drawing/2014/main" id="{D0EF083A-539B-45A5-8521-88F999BC788B}"/>
              </a:ext>
            </a:extLst>
          </p:cNvPr>
          <p:cNvSpPr/>
          <p:nvPr/>
        </p:nvSpPr>
        <p:spPr>
          <a:xfrm>
            <a:off x="289098" y="154769"/>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E2383E97-BF02-49E0-BDBC-B16322B8BF2E}"/>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Image 12">
            <a:extLst>
              <a:ext uri="{FF2B5EF4-FFF2-40B4-BE49-F238E27FC236}">
                <a16:creationId xmlns:a16="http://schemas.microsoft.com/office/drawing/2014/main" id="{03F7370B-3812-4C52-893F-A18464280A4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24472" y="131306"/>
            <a:ext cx="1573586" cy="1084406"/>
          </a:xfrm>
          <a:prstGeom prst="rect">
            <a:avLst/>
          </a:prstGeom>
        </p:spPr>
      </p:pic>
      <p:pic>
        <p:nvPicPr>
          <p:cNvPr id="16" name="Image 15">
            <a:extLst>
              <a:ext uri="{FF2B5EF4-FFF2-40B4-BE49-F238E27FC236}">
                <a16:creationId xmlns:a16="http://schemas.microsoft.com/office/drawing/2014/main" id="{FB1BF1C6-C400-4EEE-A0CD-1B721C4EB6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76154" y="-8526"/>
            <a:ext cx="2115845" cy="1182435"/>
          </a:xfrm>
          <a:prstGeom prst="rect">
            <a:avLst/>
          </a:prstGeom>
          <a:ln>
            <a:noFill/>
          </a:ln>
        </p:spPr>
      </p:pic>
      <p:pic>
        <p:nvPicPr>
          <p:cNvPr id="17" name="Graphique 16">
            <a:extLst>
              <a:ext uri="{FF2B5EF4-FFF2-40B4-BE49-F238E27FC236}">
                <a16:creationId xmlns:a16="http://schemas.microsoft.com/office/drawing/2014/main" id="{4C7C3660-4F6D-496C-B24F-A9232C2684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47651" y="131306"/>
            <a:ext cx="2296698" cy="908340"/>
          </a:xfrm>
          <a:prstGeom prst="rect">
            <a:avLst/>
          </a:prstGeom>
        </p:spPr>
      </p:pic>
    </p:spTree>
    <p:extLst>
      <p:ext uri="{BB962C8B-B14F-4D97-AF65-F5344CB8AC3E}">
        <p14:creationId xmlns:p14="http://schemas.microsoft.com/office/powerpoint/2010/main" val="3314339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rgbClr val="324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2</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Introduction to Deep Learning : On the use of </a:t>
            </a:r>
            <a:r>
              <a:rPr lang="en-US" sz="1600" dirty="0" err="1">
                <a:solidFill>
                  <a:schemeClr val="bg1"/>
                </a:solidFill>
              </a:rPr>
              <a:t>PyTorch</a:t>
            </a:r>
            <a:endParaRPr lang="fr-FR" sz="1600" dirty="0">
              <a:solidFill>
                <a:schemeClr val="bg1"/>
              </a:solidFill>
            </a:endParaRP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 name="Espace réservé du contenu 2">
            <a:extLst>
              <a:ext uri="{FF2B5EF4-FFF2-40B4-BE49-F238E27FC236}">
                <a16:creationId xmlns:a16="http://schemas.microsoft.com/office/drawing/2014/main" id="{01B896DC-9F64-077C-FF27-BBAC9172EF9D}"/>
              </a:ext>
            </a:extLst>
          </p:cNvPr>
          <p:cNvSpPr>
            <a:spLocks noGrp="1"/>
          </p:cNvSpPr>
          <p:nvPr>
            <p:ph idx="1"/>
          </p:nvPr>
        </p:nvSpPr>
        <p:spPr>
          <a:xfrm>
            <a:off x="170822" y="1270115"/>
            <a:ext cx="11509343" cy="5176731"/>
          </a:xfrm>
        </p:spPr>
        <p:txBody>
          <a:bodyPr>
            <a:normAutofit/>
          </a:bodyPr>
          <a:lstStyle/>
          <a:p>
            <a:pPr marL="514350" indent="-514350">
              <a:buFont typeface="+mj-lt"/>
              <a:buAutoNum type="arabicPeriod"/>
            </a:pPr>
            <a:r>
              <a:rPr lang="en-US" b="1" i="1" dirty="0"/>
              <a:t>Introduction</a:t>
            </a:r>
          </a:p>
          <a:p>
            <a:pPr lvl="1"/>
            <a:r>
              <a:rPr lang="en-US" dirty="0"/>
              <a:t>Machine Learning, Deep Learning &amp; Generative AI</a:t>
            </a:r>
          </a:p>
          <a:p>
            <a:pPr lvl="1"/>
            <a:r>
              <a:rPr lang="en-US" dirty="0"/>
              <a:t>Basic Structure of a Deep Neural Network</a:t>
            </a:r>
          </a:p>
          <a:p>
            <a:pPr marL="514350" indent="-514350">
              <a:buFont typeface="+mj-lt"/>
              <a:buAutoNum type="arabicPeriod"/>
            </a:pPr>
            <a:r>
              <a:rPr lang="en-US" b="1" i="1" dirty="0"/>
              <a:t>Building Blocks of Deep Learning</a:t>
            </a:r>
          </a:p>
          <a:p>
            <a:pPr lvl="1"/>
            <a:r>
              <a:rPr lang="en-US" dirty="0"/>
              <a:t>Forward propagation: inputs, neurons, activation functions, prediction, loss</a:t>
            </a:r>
          </a:p>
          <a:p>
            <a:pPr lvl="1"/>
            <a:r>
              <a:rPr lang="en-US" dirty="0"/>
              <a:t>Backward propagation: automatic differentiation, weight updates, regularization</a:t>
            </a:r>
          </a:p>
          <a:p>
            <a:pPr marL="514350" indent="-514350">
              <a:buFont typeface="+mj-lt"/>
              <a:buAutoNum type="arabicPeriod"/>
            </a:pPr>
            <a:r>
              <a:rPr lang="en-US" b="1" i="1" dirty="0"/>
              <a:t>Evaluation</a:t>
            </a:r>
          </a:p>
          <a:p>
            <a:pPr lvl="1"/>
            <a:r>
              <a:rPr lang="en-US" dirty="0"/>
              <a:t>Final Model &amp; </a:t>
            </a:r>
            <a:r>
              <a:rPr lang="en-US" dirty="0" err="1"/>
              <a:t>GridSearch</a:t>
            </a:r>
            <a:endParaRPr lang="en-US" dirty="0"/>
          </a:p>
          <a:p>
            <a:pPr lvl="1"/>
            <a:r>
              <a:rPr lang="en-US" dirty="0"/>
              <a:t>Error Metrics</a:t>
            </a:r>
          </a:p>
          <a:p>
            <a:pPr lvl="1"/>
            <a:r>
              <a:rPr lang="en-US" dirty="0"/>
              <a:t>Learning Curves </a:t>
            </a:r>
          </a:p>
          <a:p>
            <a:pPr lvl="1"/>
            <a:endParaRPr lang="en-US" b="1" i="1" dirty="0"/>
          </a:p>
          <a:p>
            <a:pPr marL="514350" indent="-514350">
              <a:buFont typeface="+mj-lt"/>
              <a:buAutoNum type="arabicPeriod"/>
            </a:pPr>
            <a:endParaRPr lang="en-US" b="1" i="1" dirty="0"/>
          </a:p>
        </p:txBody>
      </p:sp>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70823" y="263188"/>
            <a:ext cx="7447085" cy="698267"/>
          </a:xfrm>
        </p:spPr>
        <p:txBody>
          <a:bodyPr anchor="t">
            <a:normAutofit/>
          </a:bodyPr>
          <a:lstStyle/>
          <a:p>
            <a:r>
              <a:rPr lang="en-US" dirty="0"/>
              <a:t>Table of Contents</a:t>
            </a:r>
            <a:endParaRPr lang="en-US" sz="22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8502569" y="70118"/>
            <a:ext cx="1573586" cy="1084406"/>
          </a:xfrm>
          <a:prstGeom prst="rect">
            <a:avLst/>
          </a:prstGeom>
        </p:spPr>
      </p:pic>
    </p:spTree>
    <p:extLst>
      <p:ext uri="{BB962C8B-B14F-4D97-AF65-F5344CB8AC3E}">
        <p14:creationId xmlns:p14="http://schemas.microsoft.com/office/powerpoint/2010/main" val="1640591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3</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sp>
        <p:nvSpPr>
          <p:cNvPr id="8" name="Titre 7">
            <a:extLst>
              <a:ext uri="{FF2B5EF4-FFF2-40B4-BE49-F238E27FC236}">
                <a16:creationId xmlns:a16="http://schemas.microsoft.com/office/drawing/2014/main" id="{3A78CB05-EA82-9FC7-638C-8FDFF0DCAA2E}"/>
              </a:ext>
            </a:extLst>
          </p:cNvPr>
          <p:cNvSpPr>
            <a:spLocks noGrp="1"/>
          </p:cNvSpPr>
          <p:nvPr>
            <p:ph type="title"/>
          </p:nvPr>
        </p:nvSpPr>
        <p:spPr>
          <a:xfrm>
            <a:off x="2514819" y="2766218"/>
            <a:ext cx="7162361" cy="1325563"/>
          </a:xfrm>
        </p:spPr>
        <p:txBody>
          <a:bodyPr/>
          <a:lstStyle/>
          <a:p>
            <a:pPr algn="ctr"/>
            <a:r>
              <a:rPr lang="en-US" b="1" dirty="0"/>
              <a:t>Introduction</a:t>
            </a:r>
          </a:p>
        </p:txBody>
      </p:sp>
    </p:spTree>
    <p:extLst>
      <p:ext uri="{BB962C8B-B14F-4D97-AF65-F5344CB8AC3E}">
        <p14:creationId xmlns:p14="http://schemas.microsoft.com/office/powerpoint/2010/main" val="2945359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4</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Machine Learning, Deep Learning &amp; Generative AI</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sz="4900" dirty="0"/>
              <a:t>Artificial Intelligence </a:t>
            </a:r>
            <a:br>
              <a:rPr lang="en-US" dirty="0"/>
            </a:br>
            <a:r>
              <a:rPr lang="en-US" sz="2400" dirty="0">
                <a:solidFill>
                  <a:srgbClr val="324B85"/>
                </a:solidFill>
                <a:cs typeface="Helvetica" panose="020B0604020202020204" pitchFamily="34" charset="0"/>
              </a:rPr>
              <a:t>Introduction</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01B896DC-9F64-077C-FF27-BBAC9172EF9D}"/>
                  </a:ext>
                </a:extLst>
              </p:cNvPr>
              <p:cNvSpPr>
                <a:spLocks noGrp="1"/>
              </p:cNvSpPr>
              <p:nvPr>
                <p:ph idx="1"/>
              </p:nvPr>
            </p:nvSpPr>
            <p:spPr>
              <a:xfrm>
                <a:off x="1" y="1270532"/>
                <a:ext cx="7622648" cy="5176731"/>
              </a:xfrm>
            </p:spPr>
            <p:txBody>
              <a:bodyPr>
                <a:normAutofit lnSpcReduction="10000"/>
              </a:bodyPr>
              <a:lstStyle/>
              <a:p>
                <a:pPr algn="just"/>
                <a:r>
                  <a:rPr lang="en-US" dirty="0"/>
                  <a:t>AI ⊃ ML ⊃ Deep Learning ⊃ Generative AI </a:t>
                </a:r>
              </a:p>
              <a:p>
                <a:pPr lvl="1" algn="just"/>
                <a:r>
                  <a:rPr lang="en-US" dirty="0"/>
                  <a:t>Artificial Intelligence : systems that perform tasks requiring human-like intelligence</a:t>
                </a:r>
              </a:p>
              <a:p>
                <a:pPr lvl="1" algn="just"/>
                <a:r>
                  <a:rPr lang="en-US" dirty="0"/>
                  <a:t>Machine Learning : AI models that learns patterns from data instead of being explicitly programmed.</a:t>
                </a:r>
              </a:p>
              <a:p>
                <a:pPr lvl="1" algn="just"/>
                <a:r>
                  <a:rPr lang="en-US" dirty="0"/>
                  <a:t>Deep Learning : ML using multi-layer neural networks to learn representations (best features) automatically.</a:t>
                </a:r>
              </a:p>
              <a:p>
                <a:pPr lvl="1" algn="just"/>
                <a:r>
                  <a:rPr lang="en-US" dirty="0"/>
                  <a:t>Generative AI : Models that generate data (text/images/etc.) based on enormous datasets</a:t>
                </a:r>
              </a:p>
              <a:p>
                <a:pPr algn="just"/>
                <a:r>
                  <a:rPr lang="en-US" dirty="0"/>
                  <a:t>Supervised, Unsupervised and Reinforcement Learning</a:t>
                </a:r>
              </a:p>
              <a:p>
                <a:pPr lvl="1" algn="just"/>
                <a:r>
                  <a:rPr lang="en-US" dirty="0"/>
                  <a:t>Learn a mapping </a:t>
                </a:r>
                <a14:m>
                  <m:oMath xmlns:m="http://schemas.openxmlformats.org/officeDocument/2006/math">
                    <m:r>
                      <a:rPr lang="fr-FR" b="0" i="1" smtClean="0">
                        <a:latin typeface="Cambria Math" panose="02040503050406030204" pitchFamily="18" charset="0"/>
                      </a:rPr>
                      <m:t>𝑓</m:t>
                    </m:r>
                    <m:d>
                      <m:dPr>
                        <m:ctrlPr>
                          <a:rPr lang="fr-FR" b="0" i="1" smtClean="0">
                            <a:latin typeface="Cambria Math" panose="02040503050406030204" pitchFamily="18" charset="0"/>
                          </a:rPr>
                        </m:ctrlPr>
                      </m:dPr>
                      <m:e>
                        <m:r>
                          <a:rPr lang="fr-FR" b="0" i="1" smtClean="0">
                            <a:latin typeface="Cambria Math" panose="02040503050406030204" pitchFamily="18" charset="0"/>
                          </a:rPr>
                          <m:t>𝑥</m:t>
                        </m:r>
                        <m:r>
                          <a:rPr lang="fr-FR" b="0" i="1" smtClean="0">
                            <a:latin typeface="Cambria Math" panose="02040503050406030204" pitchFamily="18" charset="0"/>
                          </a:rPr>
                          <m:t>,</m:t>
                        </m:r>
                        <m:r>
                          <a:rPr lang="fr-FR" b="0" i="1" smtClean="0">
                            <a:latin typeface="Cambria Math" panose="02040503050406030204" pitchFamily="18" charset="0"/>
                          </a:rPr>
                          <m:t>𝑤</m:t>
                        </m:r>
                      </m:e>
                    </m:d>
                    <m:r>
                      <a:rPr lang="fr-FR" b="0" i="1" smtClean="0">
                        <a:latin typeface="Cambria Math" panose="02040503050406030204" pitchFamily="18" charset="0"/>
                      </a:rPr>
                      <m:t> </m:t>
                    </m:r>
                    <m:r>
                      <a:rPr lang="fr-FR" b="0" i="1" smtClean="0">
                        <a:latin typeface="Cambria Math" panose="02040503050406030204" pitchFamily="18" charset="0"/>
                        <a:ea typeface="Cambria Math" panose="02040503050406030204" pitchFamily="18" charset="0"/>
                      </a:rPr>
                      <m:t>→ </m:t>
                    </m:r>
                    <m:r>
                      <a:rPr lang="fr-FR" b="0" i="1" smtClean="0">
                        <a:latin typeface="Cambria Math" panose="02040503050406030204" pitchFamily="18" charset="0"/>
                        <a:ea typeface="Cambria Math" panose="02040503050406030204" pitchFamily="18" charset="0"/>
                      </a:rPr>
                      <m:t>𝑦</m:t>
                    </m:r>
                  </m:oMath>
                </a14:m>
                <a:r>
                  <a:rPr lang="en-US" dirty="0"/>
                  <a:t>.</a:t>
                </a:r>
              </a:p>
              <a:p>
                <a:pPr lvl="1" algn="just"/>
                <a:r>
                  <a:rPr lang="en-US" dirty="0"/>
                  <a:t>Discover structure in </a:t>
                </a:r>
                <a14:m>
                  <m:oMath xmlns:m="http://schemas.openxmlformats.org/officeDocument/2006/math">
                    <m:r>
                      <a:rPr lang="fr-FR" b="0" i="1" smtClean="0">
                        <a:latin typeface="Cambria Math" panose="02040503050406030204" pitchFamily="18" charset="0"/>
                      </a:rPr>
                      <m:t>𝑥</m:t>
                    </m:r>
                  </m:oMath>
                </a14:m>
                <a:r>
                  <a:rPr lang="en-US" dirty="0"/>
                  <a:t>: clusters, anomalies...</a:t>
                </a:r>
              </a:p>
              <a:p>
                <a:pPr lvl="1" algn="just"/>
                <a:r>
                  <a:rPr lang="en-US" dirty="0"/>
                  <a:t>Learn a policy </a:t>
                </a:r>
                <a14:m>
                  <m:oMath xmlns:m="http://schemas.openxmlformats.org/officeDocument/2006/math">
                    <m:r>
                      <a:rPr lang="en-US" i="1" smtClean="0">
                        <a:latin typeface="Cambria Math" panose="02040503050406030204" pitchFamily="18" charset="0"/>
                        <a:ea typeface="Cambria Math" panose="02040503050406030204" pitchFamily="18" charset="0"/>
                      </a:rPr>
                      <m:t>𝜋</m:t>
                    </m:r>
                    <m:d>
                      <m:dPr>
                        <m:ctrlPr>
                          <a:rPr lang="fr-FR" b="0" i="1" smtClean="0">
                            <a:latin typeface="Cambria Math" panose="02040503050406030204" pitchFamily="18" charset="0"/>
                            <a:ea typeface="Cambria Math" panose="02040503050406030204" pitchFamily="18" charset="0"/>
                          </a:rPr>
                        </m:ctrlPr>
                      </m:dPr>
                      <m:e>
                        <m:r>
                          <a:rPr lang="fr-FR" b="0" i="1" smtClean="0">
                            <a:latin typeface="Cambria Math" panose="02040503050406030204" pitchFamily="18" charset="0"/>
                            <a:ea typeface="Cambria Math" panose="02040503050406030204" pitchFamily="18" charset="0"/>
                          </a:rPr>
                          <m:t>𝑎</m:t>
                        </m:r>
                      </m:e>
                      <m:e>
                        <m:r>
                          <a:rPr lang="fr-FR" b="0" i="1" smtClean="0">
                            <a:latin typeface="Cambria Math" panose="02040503050406030204" pitchFamily="18" charset="0"/>
                            <a:ea typeface="Cambria Math" panose="02040503050406030204" pitchFamily="18" charset="0"/>
                          </a:rPr>
                          <m:t>𝑠</m:t>
                        </m:r>
                      </m:e>
                    </m:d>
                  </m:oMath>
                </a14:m>
                <a:r>
                  <a:rPr lang="en-US" dirty="0"/>
                  <a:t> to maximize cumulative reward.</a:t>
                </a:r>
              </a:p>
              <a:p>
                <a:endParaRPr lang="en-US" dirty="0"/>
              </a:p>
            </p:txBody>
          </p:sp>
        </mc:Choice>
        <mc:Fallback>
          <p:sp>
            <p:nvSpPr>
              <p:cNvPr id="3" name="Espace réservé du contenu 2">
                <a:extLst>
                  <a:ext uri="{FF2B5EF4-FFF2-40B4-BE49-F238E27FC236}">
                    <a16:creationId xmlns:a16="http://schemas.microsoft.com/office/drawing/2014/main" id="{01B896DC-9F64-077C-FF27-BBAC9172EF9D}"/>
                  </a:ext>
                </a:extLst>
              </p:cNvPr>
              <p:cNvSpPr>
                <a:spLocks noGrp="1" noRot="1" noChangeAspect="1" noMove="1" noResize="1" noEditPoints="1" noAdjustHandles="1" noChangeArrowheads="1" noChangeShapeType="1" noTextEdit="1"/>
              </p:cNvSpPr>
              <p:nvPr>
                <p:ph idx="1"/>
              </p:nvPr>
            </p:nvSpPr>
            <p:spPr>
              <a:xfrm>
                <a:off x="1" y="1270532"/>
                <a:ext cx="7622648" cy="5176731"/>
              </a:xfrm>
              <a:blipFill>
                <a:blip r:embed="rId5"/>
                <a:stretch>
                  <a:fillRect l="-1440" t="-2941" r="-1600"/>
                </a:stretch>
              </a:blipFill>
            </p:spPr>
            <p:txBody>
              <a:bodyPr/>
              <a:lstStyle/>
              <a:p>
                <a:r>
                  <a:rPr lang="en-US">
                    <a:noFill/>
                  </a:rPr>
                  <a:t> </a:t>
                </a:r>
              </a:p>
            </p:txBody>
          </p:sp>
        </mc:Fallback>
      </mc:AlternateContent>
      <p:pic>
        <p:nvPicPr>
          <p:cNvPr id="6" name="Image 5">
            <a:extLst>
              <a:ext uri="{FF2B5EF4-FFF2-40B4-BE49-F238E27FC236}">
                <a16:creationId xmlns:a16="http://schemas.microsoft.com/office/drawing/2014/main" id="{4EB0AC88-5912-ECDF-1C63-88CE97A967F1}"/>
              </a:ext>
            </a:extLst>
          </p:cNvPr>
          <p:cNvPicPr>
            <a:picLocks noChangeAspect="1"/>
          </p:cNvPicPr>
          <p:nvPr/>
        </p:nvPicPr>
        <p:blipFill>
          <a:blip r:embed="rId6"/>
          <a:stretch>
            <a:fillRect/>
          </a:stretch>
        </p:blipFill>
        <p:spPr>
          <a:xfrm>
            <a:off x="7622647" y="1701164"/>
            <a:ext cx="4569352" cy="4202172"/>
          </a:xfrm>
          <a:prstGeom prst="rect">
            <a:avLst/>
          </a:prstGeom>
        </p:spPr>
      </p:pic>
    </p:spTree>
    <p:extLst>
      <p:ext uri="{BB962C8B-B14F-4D97-AF65-F5344CB8AC3E}">
        <p14:creationId xmlns:p14="http://schemas.microsoft.com/office/powerpoint/2010/main" val="4064035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5</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Machine Learning, Deep Learning &amp; Generative AI</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sz="4900" dirty="0"/>
              <a:t>Artificial Intelligence </a:t>
            </a:r>
            <a:br>
              <a:rPr lang="en-US" dirty="0"/>
            </a:br>
            <a:r>
              <a:rPr lang="en-US" sz="2400" dirty="0">
                <a:solidFill>
                  <a:srgbClr val="324B85"/>
                </a:solidFill>
                <a:cs typeface="Helvetica" panose="020B0604020202020204" pitchFamily="34" charset="0"/>
              </a:rPr>
              <a:t>Introduction</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7" name="Image 6">
            <a:extLst>
              <a:ext uri="{FF2B5EF4-FFF2-40B4-BE49-F238E27FC236}">
                <a16:creationId xmlns:a16="http://schemas.microsoft.com/office/drawing/2014/main" id="{D48DA57A-413C-BCA9-046F-6587E439C455}"/>
              </a:ext>
            </a:extLst>
          </p:cNvPr>
          <p:cNvPicPr>
            <a:picLocks noChangeAspect="1"/>
          </p:cNvPicPr>
          <p:nvPr/>
        </p:nvPicPr>
        <p:blipFill>
          <a:blip r:embed="rId5"/>
          <a:srcRect b="5925"/>
          <a:stretch/>
        </p:blipFill>
        <p:spPr>
          <a:xfrm>
            <a:off x="5721880" y="1422181"/>
            <a:ext cx="5819880" cy="4522893"/>
          </a:xfrm>
          <a:prstGeom prst="rect">
            <a:avLst/>
          </a:prstGeom>
        </p:spPr>
      </p:pic>
      <p:sp>
        <p:nvSpPr>
          <p:cNvPr id="9" name="Rectangle 8">
            <a:extLst>
              <a:ext uri="{FF2B5EF4-FFF2-40B4-BE49-F238E27FC236}">
                <a16:creationId xmlns:a16="http://schemas.microsoft.com/office/drawing/2014/main" id="{DFF05F4E-2D55-D1B5-5EFC-3050C2696BFC}"/>
              </a:ext>
            </a:extLst>
          </p:cNvPr>
          <p:cNvSpPr/>
          <p:nvPr/>
        </p:nvSpPr>
        <p:spPr>
          <a:xfrm>
            <a:off x="5819609" y="5816352"/>
            <a:ext cx="1012166" cy="2300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 10">
            <a:extLst>
              <a:ext uri="{FF2B5EF4-FFF2-40B4-BE49-F238E27FC236}">
                <a16:creationId xmlns:a16="http://schemas.microsoft.com/office/drawing/2014/main" id="{E3C9AE59-F196-BDC6-666A-0DF8DF16643F}"/>
              </a:ext>
            </a:extLst>
          </p:cNvPr>
          <p:cNvPicPr>
            <a:picLocks noChangeAspect="1"/>
          </p:cNvPicPr>
          <p:nvPr/>
        </p:nvPicPr>
        <p:blipFill>
          <a:blip r:embed="rId6"/>
          <a:stretch>
            <a:fillRect/>
          </a:stretch>
        </p:blipFill>
        <p:spPr>
          <a:xfrm>
            <a:off x="650240" y="2478705"/>
            <a:ext cx="4457733" cy="2409843"/>
          </a:xfrm>
          <a:prstGeom prst="rect">
            <a:avLst/>
          </a:prstGeom>
        </p:spPr>
      </p:pic>
    </p:spTree>
    <p:extLst>
      <p:ext uri="{BB962C8B-B14F-4D97-AF65-F5344CB8AC3E}">
        <p14:creationId xmlns:p14="http://schemas.microsoft.com/office/powerpoint/2010/main" val="2821553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6</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Basic Structure of a Deep Neural Network</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01B896DC-9F64-077C-FF27-BBAC9172EF9D}"/>
                  </a:ext>
                </a:extLst>
              </p:cNvPr>
              <p:cNvSpPr>
                <a:spLocks noGrp="1"/>
              </p:cNvSpPr>
              <p:nvPr>
                <p:ph idx="1"/>
              </p:nvPr>
            </p:nvSpPr>
            <p:spPr>
              <a:xfrm>
                <a:off x="7571901" y="1270115"/>
                <a:ext cx="4577750" cy="5176731"/>
              </a:xfrm>
            </p:spPr>
            <p:txBody>
              <a:bodyPr>
                <a:normAutofit fontScale="92500"/>
              </a:bodyPr>
              <a:lstStyle/>
              <a:p>
                <a:pPr algn="just"/>
                <a:r>
                  <a:rPr lang="en-US" dirty="0"/>
                  <a:t>An DNN is composed basically by layers and neurons: </a:t>
                </a:r>
              </a:p>
              <a:p>
                <a:pPr lvl="1" algn="just"/>
                <a:r>
                  <a:rPr lang="en-US" dirty="0"/>
                  <a:t>Input Layer : Receives the dataset features </a:t>
                </a:r>
                <a14:m>
                  <m:oMath xmlns:m="http://schemas.openxmlformats.org/officeDocument/2006/math">
                    <m:r>
                      <a:rPr lang="fr-FR" b="0" i="1" smtClean="0">
                        <a:latin typeface="Cambria Math" panose="02040503050406030204" pitchFamily="18" charset="0"/>
                      </a:rPr>
                      <m:t>𝑋</m:t>
                    </m:r>
                  </m:oMath>
                </a14:m>
                <a:endParaRPr lang="en-US" dirty="0"/>
              </a:p>
              <a:p>
                <a:pPr lvl="1" algn="just"/>
                <a:r>
                  <a:rPr lang="en-US" dirty="0"/>
                  <a:t>Hidden Layers : Fully Connected Neurons</a:t>
                </a:r>
              </a:p>
              <a:p>
                <a:pPr lvl="1" algn="just"/>
                <a:r>
                  <a:rPr lang="en-US" dirty="0"/>
                  <a:t>Output Layer : Final Prediction </a:t>
                </a:r>
                <a14:m>
                  <m:oMath xmlns:m="http://schemas.openxmlformats.org/officeDocument/2006/math">
                    <m:r>
                      <a:rPr lang="fr-FR" b="0" i="1" smtClean="0">
                        <a:latin typeface="Cambria Math" panose="02040503050406030204" pitchFamily="18" charset="0"/>
                      </a:rPr>
                      <m:t>𝑌</m:t>
                    </m:r>
                  </m:oMath>
                </a14:m>
                <a:endParaRPr lang="en-US" dirty="0"/>
              </a:p>
              <a:p>
                <a:pPr algn="just"/>
                <a:r>
                  <a:rPr lang="en-US" dirty="0"/>
                  <a:t>Each neuron is basically a parametric nonlinear mathematical function. </a:t>
                </a:r>
              </a:p>
              <a:p>
                <a:pPr algn="just"/>
                <a:r>
                  <a:rPr lang="en-US" dirty="0"/>
                  <a:t>Training = find the best parameters of these functions</a:t>
                </a:r>
              </a:p>
              <a:p>
                <a:pPr lvl="1"/>
                <a:endParaRPr lang="en-US" dirty="0"/>
              </a:p>
            </p:txBody>
          </p:sp>
        </mc:Choice>
        <mc:Fallback>
          <p:sp>
            <p:nvSpPr>
              <p:cNvPr id="3" name="Espace réservé du contenu 2">
                <a:extLst>
                  <a:ext uri="{FF2B5EF4-FFF2-40B4-BE49-F238E27FC236}">
                    <a16:creationId xmlns:a16="http://schemas.microsoft.com/office/drawing/2014/main" id="{01B896DC-9F64-077C-FF27-BBAC9172EF9D}"/>
                  </a:ext>
                </a:extLst>
              </p:cNvPr>
              <p:cNvSpPr>
                <a:spLocks noGrp="1" noRot="1" noChangeAspect="1" noMove="1" noResize="1" noEditPoints="1" noAdjustHandles="1" noChangeArrowheads="1" noChangeShapeType="1" noTextEdit="1"/>
              </p:cNvSpPr>
              <p:nvPr>
                <p:ph idx="1"/>
              </p:nvPr>
            </p:nvSpPr>
            <p:spPr>
              <a:xfrm>
                <a:off x="7571901" y="1270115"/>
                <a:ext cx="4577750" cy="5176731"/>
              </a:xfrm>
              <a:blipFill>
                <a:blip r:embed="rId4"/>
                <a:stretch>
                  <a:fillRect l="-1997" t="-1765" r="-2397"/>
                </a:stretch>
              </a:blipFill>
            </p:spPr>
            <p:txBody>
              <a:bodyPr/>
              <a:lstStyle/>
              <a:p>
                <a:r>
                  <a:rPr lang="en-US">
                    <a:noFill/>
                  </a:rPr>
                  <a:t> </a:t>
                </a:r>
              </a:p>
            </p:txBody>
          </p:sp>
        </mc:Fallback>
      </mc:AlternateContent>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sz="4900" dirty="0"/>
              <a:t>Deep Neural Network</a:t>
            </a:r>
            <a:br>
              <a:rPr lang="en-US" dirty="0"/>
            </a:br>
            <a:r>
              <a:rPr lang="en-US" sz="2400" dirty="0">
                <a:solidFill>
                  <a:srgbClr val="324B85"/>
                </a:solidFill>
                <a:cs typeface="Helvetica" panose="020B0604020202020204" pitchFamily="34" charset="0"/>
              </a:rPr>
              <a:t>Introduction</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5" name="Image 4">
            <a:extLst>
              <a:ext uri="{FF2B5EF4-FFF2-40B4-BE49-F238E27FC236}">
                <a16:creationId xmlns:a16="http://schemas.microsoft.com/office/drawing/2014/main" id="{5A6101EC-923A-4E7B-3727-2E7A3BAB3302}"/>
              </a:ext>
            </a:extLst>
          </p:cNvPr>
          <p:cNvPicPr>
            <a:picLocks noChangeAspect="1"/>
          </p:cNvPicPr>
          <p:nvPr/>
        </p:nvPicPr>
        <p:blipFill>
          <a:blip r:embed="rId6"/>
          <a:stretch>
            <a:fillRect/>
          </a:stretch>
        </p:blipFill>
        <p:spPr>
          <a:xfrm>
            <a:off x="124815" y="1300807"/>
            <a:ext cx="7447086" cy="5033578"/>
          </a:xfrm>
          <a:prstGeom prst="rect">
            <a:avLst/>
          </a:prstGeom>
        </p:spPr>
      </p:pic>
    </p:spTree>
    <p:extLst>
      <p:ext uri="{BB962C8B-B14F-4D97-AF65-F5344CB8AC3E}">
        <p14:creationId xmlns:p14="http://schemas.microsoft.com/office/powerpoint/2010/main" val="2460624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7</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Basic Structure of a Deep Neural Network</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sz="4900" dirty="0"/>
              <a:t>Deep Neural Network</a:t>
            </a:r>
            <a:br>
              <a:rPr lang="en-US" dirty="0"/>
            </a:br>
            <a:r>
              <a:rPr lang="en-US" sz="2400" dirty="0">
                <a:solidFill>
                  <a:srgbClr val="324B85"/>
                </a:solidFill>
                <a:cs typeface="Helvetica" panose="020B0604020202020204" pitchFamily="34" charset="0"/>
              </a:rPr>
              <a:t>Introduction</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1026" name="Picture 2" descr="What Is a Neural Network? A Simple Introduction to AI &amp; Machine Learning |  Alation">
            <a:extLst>
              <a:ext uri="{FF2B5EF4-FFF2-40B4-BE49-F238E27FC236}">
                <a16:creationId xmlns:a16="http://schemas.microsoft.com/office/drawing/2014/main" id="{126812AC-30BD-11B8-8326-8D910AFBCF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9897" y="1732452"/>
            <a:ext cx="7042103" cy="413959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5" name="Espace réservé du contenu 2">
                <a:extLst>
                  <a:ext uri="{FF2B5EF4-FFF2-40B4-BE49-F238E27FC236}">
                    <a16:creationId xmlns:a16="http://schemas.microsoft.com/office/drawing/2014/main" id="{B49ED1A9-406C-0E22-D4D5-051900F93B67}"/>
                  </a:ext>
                </a:extLst>
              </p:cNvPr>
              <p:cNvSpPr>
                <a:spLocks noGrp="1"/>
              </p:cNvSpPr>
              <p:nvPr>
                <p:ph idx="1"/>
              </p:nvPr>
            </p:nvSpPr>
            <p:spPr>
              <a:xfrm>
                <a:off x="0" y="1270533"/>
                <a:ext cx="5149897" cy="5101966"/>
              </a:xfrm>
            </p:spPr>
            <p:txBody>
              <a:bodyPr>
                <a:normAutofit fontScale="92500" lnSpcReduction="10000"/>
              </a:bodyPr>
              <a:lstStyle/>
              <a:p>
                <a:pPr algn="just"/>
                <a:r>
                  <a:rPr lang="en-US" dirty="0"/>
                  <a:t>A neural network is basically:</a:t>
                </a:r>
              </a:p>
              <a:p>
                <a:pPr marL="0" indent="0" algn="just">
                  <a:buNone/>
                </a:pPr>
                <a14:m>
                  <m:oMathPara xmlns:m="http://schemas.openxmlformats.org/officeDocument/2006/math">
                    <m:oMathParaPr>
                      <m:jc m:val="centerGroup"/>
                    </m:oMathParaPr>
                    <m:oMath xmlns:m="http://schemas.openxmlformats.org/officeDocument/2006/math">
                      <m:acc>
                        <m:accPr>
                          <m:chr m:val="̂"/>
                          <m:ctrlPr>
                            <a:rPr lang="fr-FR" b="1" i="1" smtClean="0">
                              <a:latin typeface="Cambria Math" panose="02040503050406030204" pitchFamily="18" charset="0"/>
                            </a:rPr>
                          </m:ctrlPr>
                        </m:accPr>
                        <m:e>
                          <m:r>
                            <a:rPr lang="fr-FR" b="1" i="1" smtClean="0">
                              <a:latin typeface="Cambria Math" panose="02040503050406030204" pitchFamily="18" charset="0"/>
                            </a:rPr>
                            <m:t>𝒀</m:t>
                          </m:r>
                        </m:e>
                      </m:acc>
                      <m:r>
                        <a:rPr lang="fr-FR" b="0" i="1" smtClean="0">
                          <a:latin typeface="Cambria Math" panose="02040503050406030204" pitchFamily="18" charset="0"/>
                        </a:rPr>
                        <m:t>=</m:t>
                      </m:r>
                      <m:r>
                        <a:rPr lang="fr-FR" b="0" i="1" smtClean="0">
                          <a:latin typeface="Cambria Math" panose="02040503050406030204" pitchFamily="18" charset="0"/>
                        </a:rPr>
                        <m:t>𝑓</m:t>
                      </m:r>
                      <m:d>
                        <m:dPr>
                          <m:ctrlPr>
                            <a:rPr lang="fr-FR" b="0" i="1" smtClean="0">
                              <a:latin typeface="Cambria Math" panose="02040503050406030204" pitchFamily="18" charset="0"/>
                            </a:rPr>
                          </m:ctrlPr>
                        </m:dPr>
                        <m:e>
                          <m:r>
                            <a:rPr lang="fr-FR" b="1" i="1" smtClean="0">
                              <a:latin typeface="Cambria Math" panose="02040503050406030204" pitchFamily="18" charset="0"/>
                            </a:rPr>
                            <m:t>𝑿</m:t>
                          </m:r>
                          <m:r>
                            <a:rPr lang="fr-FR" b="0" i="1" smtClean="0">
                              <a:latin typeface="Cambria Math" panose="02040503050406030204" pitchFamily="18" charset="0"/>
                            </a:rPr>
                            <m:t>,</m:t>
                          </m:r>
                          <m:r>
                            <a:rPr lang="fr-FR" b="1" i="1" smtClean="0">
                              <a:latin typeface="Cambria Math" panose="02040503050406030204" pitchFamily="18" charset="0"/>
                            </a:rPr>
                            <m:t>𝑾</m:t>
                          </m:r>
                        </m:e>
                      </m:d>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𝜙</m:t>
                      </m:r>
                      <m:d>
                        <m:dPr>
                          <m:ctrlPr>
                            <a:rPr lang="fr-FR" b="0" i="1" smtClean="0">
                              <a:latin typeface="Cambria Math" panose="02040503050406030204" pitchFamily="18" charset="0"/>
                              <a:ea typeface="Cambria Math" panose="02040503050406030204" pitchFamily="18" charset="0"/>
                            </a:rPr>
                          </m:ctrlPr>
                        </m:dPr>
                        <m:e>
                          <m:r>
                            <a:rPr lang="fr-FR" b="1" i="1" smtClean="0">
                              <a:latin typeface="Cambria Math" panose="02040503050406030204" pitchFamily="18" charset="0"/>
                              <a:ea typeface="Cambria Math" panose="02040503050406030204" pitchFamily="18" charset="0"/>
                            </a:rPr>
                            <m:t>𝑾</m:t>
                          </m:r>
                          <m:r>
                            <a:rPr lang="fr-FR" b="0" i="1" smtClean="0">
                              <a:latin typeface="Cambria Math" panose="02040503050406030204" pitchFamily="18" charset="0"/>
                              <a:ea typeface="Cambria Math" panose="02040503050406030204" pitchFamily="18" charset="0"/>
                            </a:rPr>
                            <m:t>∙</m:t>
                          </m:r>
                          <m:r>
                            <a:rPr lang="fr-FR" b="1" i="1" smtClean="0">
                              <a:latin typeface="Cambria Math" panose="02040503050406030204" pitchFamily="18" charset="0"/>
                              <a:ea typeface="Cambria Math" panose="02040503050406030204" pitchFamily="18" charset="0"/>
                            </a:rPr>
                            <m:t>𝑿</m:t>
                          </m:r>
                          <m:r>
                            <a:rPr lang="fr-FR" b="0" i="1" smtClean="0">
                              <a:latin typeface="Cambria Math" panose="02040503050406030204" pitchFamily="18" charset="0"/>
                              <a:ea typeface="Cambria Math" panose="02040503050406030204" pitchFamily="18" charset="0"/>
                            </a:rPr>
                            <m:t>+</m:t>
                          </m:r>
                          <m:r>
                            <a:rPr lang="fr-FR" b="1" i="1" smtClean="0">
                              <a:latin typeface="Cambria Math" panose="02040503050406030204" pitchFamily="18" charset="0"/>
                              <a:ea typeface="Cambria Math" panose="02040503050406030204" pitchFamily="18" charset="0"/>
                            </a:rPr>
                            <m:t>𝒃</m:t>
                          </m:r>
                        </m:e>
                      </m:d>
                    </m:oMath>
                  </m:oMathPara>
                </a14:m>
                <a:endParaRPr lang="en-US" dirty="0"/>
              </a:p>
              <a:p>
                <a:pPr algn="just"/>
                <a:r>
                  <a:rPr lang="en-US" dirty="0"/>
                  <a:t>Therefore, as a linear regression, a DNN is a optimization problem, in which :</a:t>
                </a:r>
              </a:p>
              <a:p>
                <a:pPr lvl="1" algn="just"/>
                <a:r>
                  <a:rPr lang="en-US" dirty="0"/>
                  <a:t>We want to minimize a established loss function in relation to the coefficients of </a:t>
                </a:r>
                <a14:m>
                  <m:oMath xmlns:m="http://schemas.openxmlformats.org/officeDocument/2006/math">
                    <m:acc>
                      <m:accPr>
                        <m:chr m:val="̂"/>
                        <m:ctrlPr>
                          <a:rPr lang="fr-FR" b="1" i="1" smtClean="0">
                            <a:latin typeface="Cambria Math" panose="02040503050406030204" pitchFamily="18" charset="0"/>
                          </a:rPr>
                        </m:ctrlPr>
                      </m:accPr>
                      <m:e>
                        <m:r>
                          <a:rPr lang="fr-FR" b="1" i="1" smtClean="0">
                            <a:latin typeface="Cambria Math" panose="02040503050406030204" pitchFamily="18" charset="0"/>
                          </a:rPr>
                          <m:t>𝒀</m:t>
                        </m:r>
                      </m:e>
                    </m:acc>
                  </m:oMath>
                </a14:m>
                <a:endParaRPr lang="en-US" dirty="0"/>
              </a:p>
              <a:p>
                <a:pPr algn="just"/>
                <a:r>
                  <a:rPr lang="en-US" dirty="0"/>
                  <a:t>To do so, we do the forward and backward propagation in repetitive cycles, called epochs. </a:t>
                </a:r>
              </a:p>
              <a:p>
                <a:pPr lvl="1" algn="just"/>
                <a:r>
                  <a:rPr lang="en-US" dirty="0"/>
                  <a:t>Forward = Make Predictions</a:t>
                </a:r>
              </a:p>
              <a:p>
                <a:pPr lvl="1" algn="just"/>
                <a:r>
                  <a:rPr lang="en-US" dirty="0"/>
                  <a:t>Backward = Calculating Gradients with respect to each weight</a:t>
                </a:r>
              </a:p>
              <a:p>
                <a:pPr algn="just"/>
                <a:endParaRPr lang="en-US" dirty="0"/>
              </a:p>
            </p:txBody>
          </p:sp>
        </mc:Choice>
        <mc:Fallback>
          <p:sp>
            <p:nvSpPr>
              <p:cNvPr id="5" name="Espace réservé du contenu 2">
                <a:extLst>
                  <a:ext uri="{FF2B5EF4-FFF2-40B4-BE49-F238E27FC236}">
                    <a16:creationId xmlns:a16="http://schemas.microsoft.com/office/drawing/2014/main" id="{B49ED1A9-406C-0E22-D4D5-051900F93B67}"/>
                  </a:ext>
                </a:extLst>
              </p:cNvPr>
              <p:cNvSpPr>
                <a:spLocks noGrp="1" noRot="1" noChangeAspect="1" noMove="1" noResize="1" noEditPoints="1" noAdjustHandles="1" noChangeArrowheads="1" noChangeShapeType="1" noTextEdit="1"/>
              </p:cNvSpPr>
              <p:nvPr>
                <p:ph idx="1"/>
              </p:nvPr>
            </p:nvSpPr>
            <p:spPr>
              <a:xfrm>
                <a:off x="0" y="1270533"/>
                <a:ext cx="5149897" cy="5101966"/>
              </a:xfrm>
              <a:blipFill>
                <a:blip r:embed="rId6"/>
                <a:stretch>
                  <a:fillRect l="-1775" t="-2389" r="-2130"/>
                </a:stretch>
              </a:blipFill>
            </p:spPr>
            <p:txBody>
              <a:bodyPr/>
              <a:lstStyle/>
              <a:p>
                <a:r>
                  <a:rPr lang="en-US">
                    <a:noFill/>
                  </a:rPr>
                  <a:t> </a:t>
                </a:r>
              </a:p>
            </p:txBody>
          </p:sp>
        </mc:Fallback>
      </mc:AlternateContent>
    </p:spTree>
    <p:extLst>
      <p:ext uri="{BB962C8B-B14F-4D97-AF65-F5344CB8AC3E}">
        <p14:creationId xmlns:p14="http://schemas.microsoft.com/office/powerpoint/2010/main" val="2605979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8</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sp>
        <p:nvSpPr>
          <p:cNvPr id="8" name="Titre 7">
            <a:extLst>
              <a:ext uri="{FF2B5EF4-FFF2-40B4-BE49-F238E27FC236}">
                <a16:creationId xmlns:a16="http://schemas.microsoft.com/office/drawing/2014/main" id="{4B3E0621-DFEA-2EFA-E2DF-5B58DB2F607A}"/>
              </a:ext>
            </a:extLst>
          </p:cNvPr>
          <p:cNvSpPr>
            <a:spLocks noGrp="1"/>
          </p:cNvSpPr>
          <p:nvPr>
            <p:ph type="title"/>
          </p:nvPr>
        </p:nvSpPr>
        <p:spPr>
          <a:xfrm>
            <a:off x="2514819" y="2766218"/>
            <a:ext cx="7162361" cy="1325563"/>
          </a:xfrm>
        </p:spPr>
        <p:txBody>
          <a:bodyPr/>
          <a:lstStyle/>
          <a:p>
            <a:pPr algn="ctr"/>
            <a:r>
              <a:rPr lang="en-US" b="1" dirty="0"/>
              <a:t>Building Blocks of Deep Learning</a:t>
            </a:r>
          </a:p>
        </p:txBody>
      </p:sp>
    </p:spTree>
    <p:extLst>
      <p:ext uri="{BB962C8B-B14F-4D97-AF65-F5344CB8AC3E}">
        <p14:creationId xmlns:p14="http://schemas.microsoft.com/office/powerpoint/2010/main" val="2006310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9</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Forward Propagation : Inputs and Neurons </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01B896DC-9F64-077C-FF27-BBAC9172EF9D}"/>
                  </a:ext>
                </a:extLst>
              </p:cNvPr>
              <p:cNvSpPr>
                <a:spLocks noGrp="1"/>
              </p:cNvSpPr>
              <p:nvPr>
                <p:ph idx="1"/>
              </p:nvPr>
            </p:nvSpPr>
            <p:spPr>
              <a:xfrm>
                <a:off x="170822" y="1270115"/>
                <a:ext cx="11814030" cy="5176731"/>
              </a:xfrm>
            </p:spPr>
            <p:txBody>
              <a:bodyPr>
                <a:normAutofit/>
              </a:bodyPr>
              <a:lstStyle/>
              <a:p>
                <a:pPr lvl="1" algn="just"/>
                <a:r>
                  <a:rPr lang="en-US" dirty="0"/>
                  <a:t>To understand the Neuron Network, is important to understand each step and the flow of calculations</a:t>
                </a:r>
              </a:p>
              <a:p>
                <a:pPr lvl="1" algn="just"/>
                <a:r>
                  <a:rPr lang="en-US" dirty="0"/>
                  <a:t>First, an artificial neuron, or simply a unit, generate a mathematical function :</a:t>
                </a:r>
              </a:p>
              <a:p>
                <a:pPr marL="457200" lvl="1" indent="0" algn="just">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𝑂𝑛𝑒</m:t>
                      </m:r>
                      <m:r>
                        <a:rPr lang="fr-FR" b="0" i="1" smtClean="0">
                          <a:latin typeface="Cambria Math" panose="02040503050406030204" pitchFamily="18" charset="0"/>
                        </a:rPr>
                        <m:t> </m:t>
                      </m:r>
                      <m:r>
                        <a:rPr lang="fr-FR" b="0" i="1" smtClean="0">
                          <a:latin typeface="Cambria Math" panose="02040503050406030204" pitchFamily="18" charset="0"/>
                        </a:rPr>
                        <m:t>𝑁𝑒𝑢𝑟𝑜𝑛</m:t>
                      </m:r>
                      <m:r>
                        <a:rPr lang="fr-FR" b="0" i="1" smtClean="0">
                          <a:latin typeface="Cambria Math" panose="02040503050406030204" pitchFamily="18" charset="0"/>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r>
                                <a:rPr lang="fr-FR" i="1">
                                  <a:latin typeface="Cambria Math" panose="02040503050406030204" pitchFamily="18" charset="0"/>
                                </a:rPr>
                                <m:t>𝑧</m:t>
                              </m:r>
                              <m:r>
                                <a:rPr lang="fr-FR" i="1">
                                  <a:latin typeface="Cambria Math" panose="02040503050406030204" pitchFamily="18" charset="0"/>
                                </a:rPr>
                                <m:t>=</m:t>
                              </m:r>
                              <m:r>
                                <a:rPr lang="fr-FR" b="1" i="1">
                                  <a:latin typeface="Cambria Math" panose="02040503050406030204" pitchFamily="18" charset="0"/>
                                </a:rPr>
                                <m:t>𝒘</m:t>
                              </m:r>
                              <m:r>
                                <a:rPr lang="fr-FR" i="1">
                                  <a:latin typeface="Cambria Math" panose="02040503050406030204" pitchFamily="18" charset="0"/>
                                  <a:ea typeface="Cambria Math" panose="02040503050406030204" pitchFamily="18" charset="0"/>
                                </a:rPr>
                                <m:t>∙</m:t>
                              </m:r>
                              <m:r>
                                <a:rPr lang="fr-FR" b="1" i="1">
                                  <a:latin typeface="Cambria Math" panose="02040503050406030204" pitchFamily="18" charset="0"/>
                                  <a:ea typeface="Cambria Math" panose="02040503050406030204" pitchFamily="18" charset="0"/>
                                </a:rPr>
                                <m:t>𝒙</m:t>
                              </m:r>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𝑏</m:t>
                              </m:r>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𝑤</m:t>
                                  </m:r>
                                </m:e>
                                <m:sub>
                                  <m:r>
                                    <a:rPr lang="fr-FR" i="1">
                                      <a:latin typeface="Cambria Math" panose="02040503050406030204" pitchFamily="18" charset="0"/>
                                      <a:ea typeface="Cambria Math" panose="02040503050406030204" pitchFamily="18" charset="0"/>
                                    </a:rPr>
                                    <m:t>1</m:t>
                                  </m:r>
                                </m:sub>
                              </m:sSub>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𝑥</m:t>
                                  </m:r>
                                </m:e>
                                <m:sub>
                                  <m:r>
                                    <a:rPr lang="fr-FR" i="1">
                                      <a:latin typeface="Cambria Math" panose="02040503050406030204" pitchFamily="18" charset="0"/>
                                      <a:ea typeface="Cambria Math" panose="02040503050406030204" pitchFamily="18" charset="0"/>
                                    </a:rPr>
                                    <m:t>1</m:t>
                                  </m:r>
                                </m:sub>
                              </m:sSub>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𝑤</m:t>
                                  </m:r>
                                </m:e>
                                <m:sub>
                                  <m:r>
                                    <a:rPr lang="fr-FR" i="1">
                                      <a:latin typeface="Cambria Math" panose="02040503050406030204" pitchFamily="18" charset="0"/>
                                      <a:ea typeface="Cambria Math" panose="02040503050406030204" pitchFamily="18" charset="0"/>
                                    </a:rPr>
                                    <m:t>2</m:t>
                                  </m:r>
                                </m:sub>
                              </m:sSub>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𝑥</m:t>
                                  </m:r>
                                </m:e>
                                <m:sub>
                                  <m:r>
                                    <a:rPr lang="fr-FR" i="1">
                                      <a:latin typeface="Cambria Math" panose="02040503050406030204" pitchFamily="18" charset="0"/>
                                      <a:ea typeface="Cambria Math" panose="02040503050406030204" pitchFamily="18" charset="0"/>
                                    </a:rPr>
                                    <m:t>2</m:t>
                                  </m:r>
                                </m:sub>
                              </m:sSub>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𝑤</m:t>
                                  </m:r>
                                </m:e>
                                <m:sub>
                                  <m:r>
                                    <a:rPr lang="fr-FR" i="1">
                                      <a:latin typeface="Cambria Math" panose="02040503050406030204" pitchFamily="18" charset="0"/>
                                      <a:ea typeface="Cambria Math" panose="02040503050406030204" pitchFamily="18" charset="0"/>
                                    </a:rPr>
                                    <m:t>𝑛</m:t>
                                  </m:r>
                                </m:sub>
                              </m:sSub>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𝑥</m:t>
                                  </m:r>
                                </m:e>
                                <m:sub>
                                  <m:r>
                                    <a:rPr lang="fr-FR" i="1">
                                      <a:latin typeface="Cambria Math" panose="02040503050406030204" pitchFamily="18" charset="0"/>
                                      <a:ea typeface="Cambria Math" panose="02040503050406030204" pitchFamily="18" charset="0"/>
                                    </a:rPr>
                                    <m:t>𝑛</m:t>
                                  </m:r>
                                </m:sub>
                              </m:sSub>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𝑏</m:t>
                              </m:r>
                              <m:r>
                                <m:rPr>
                                  <m:nor/>
                                </m:rPr>
                                <a:rPr lang="fr-FR" dirty="0">
                                  <a:ea typeface="Cambria Math" panose="02040503050406030204" pitchFamily="18" charset="0"/>
                                </a:rPr>
                                <m:t> </m:t>
                              </m:r>
                            </m:e>
                            <m:e>
                              <m:r>
                                <a:rPr lang="fr-FR" i="1">
                                  <a:latin typeface="Cambria Math" panose="02040503050406030204" pitchFamily="18" charset="0"/>
                                </a:rPr>
                                <m:t>𝑎</m:t>
                              </m:r>
                              <m:r>
                                <a:rPr lang="fr-FR" i="1">
                                  <a:latin typeface="Cambria Math" panose="02040503050406030204" pitchFamily="18" charset="0"/>
                                </a:rPr>
                                <m:t>=</m:t>
                              </m:r>
                              <m:r>
                                <a:rPr lang="fr-FR" i="1">
                                  <a:latin typeface="Cambria Math" panose="02040503050406030204" pitchFamily="18" charset="0"/>
                                  <a:ea typeface="Cambria Math" panose="02040503050406030204" pitchFamily="18" charset="0"/>
                                </a:rPr>
                                <m:t>𝜙</m:t>
                              </m:r>
                              <m:d>
                                <m:dPr>
                                  <m:ctrlPr>
                                    <a:rPr lang="fr-FR" i="1">
                                      <a:latin typeface="Cambria Math" panose="02040503050406030204" pitchFamily="18" charset="0"/>
                                      <a:ea typeface="Cambria Math" panose="02040503050406030204" pitchFamily="18" charset="0"/>
                                    </a:rPr>
                                  </m:ctrlPr>
                                </m:dPr>
                                <m:e>
                                  <m:r>
                                    <a:rPr lang="fr-FR" i="1">
                                      <a:latin typeface="Cambria Math" panose="02040503050406030204" pitchFamily="18" charset="0"/>
                                      <a:ea typeface="Cambria Math" panose="02040503050406030204" pitchFamily="18" charset="0"/>
                                    </a:rPr>
                                    <m:t>𝑧</m:t>
                                  </m:r>
                                </m:e>
                              </m:d>
                            </m:e>
                          </m:eqArr>
                        </m:e>
                      </m:d>
                    </m:oMath>
                  </m:oMathPara>
                </a14:m>
                <a:endParaRPr lang="en-US" dirty="0"/>
              </a:p>
              <a:p>
                <a:pPr lvl="1" algn="just"/>
                <a:r>
                  <a:rPr lang="en-US" dirty="0"/>
                  <a:t>Then, for each hidden layer, the calculation is repeated. Therefore, a DNN is just a series of weighted sum (parameters) of activation scores passing through nonlinear functions.</a:t>
                </a:r>
              </a:p>
            </p:txBody>
          </p:sp>
        </mc:Choice>
        <mc:Fallback>
          <p:sp>
            <p:nvSpPr>
              <p:cNvPr id="3" name="Espace réservé du contenu 2">
                <a:extLst>
                  <a:ext uri="{FF2B5EF4-FFF2-40B4-BE49-F238E27FC236}">
                    <a16:creationId xmlns:a16="http://schemas.microsoft.com/office/drawing/2014/main" id="{01B896DC-9F64-077C-FF27-BBAC9172EF9D}"/>
                  </a:ext>
                </a:extLst>
              </p:cNvPr>
              <p:cNvSpPr>
                <a:spLocks noGrp="1" noRot="1" noChangeAspect="1" noMove="1" noResize="1" noEditPoints="1" noAdjustHandles="1" noChangeArrowheads="1" noChangeShapeType="1" noTextEdit="1"/>
              </p:cNvSpPr>
              <p:nvPr>
                <p:ph idx="1"/>
              </p:nvPr>
            </p:nvSpPr>
            <p:spPr>
              <a:xfrm>
                <a:off x="170822" y="1270115"/>
                <a:ext cx="11814030" cy="5176731"/>
              </a:xfrm>
              <a:blipFill>
                <a:blip r:embed="rId4"/>
                <a:stretch>
                  <a:fillRect t="-1647" r="-826"/>
                </a:stretch>
              </a:blipFill>
            </p:spPr>
            <p:txBody>
              <a:bodyPr/>
              <a:lstStyle/>
              <a:p>
                <a:r>
                  <a:rPr lang="en-US">
                    <a:noFill/>
                  </a:rPr>
                  <a:t> </a:t>
                </a:r>
              </a:p>
            </p:txBody>
          </p:sp>
        </mc:Fallback>
      </mc:AlternateContent>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sz="4900" dirty="0"/>
              <a:t>Inputs and Neurons</a:t>
            </a:r>
            <a:br>
              <a:rPr lang="en-US" dirty="0"/>
            </a:br>
            <a:r>
              <a:rPr lang="en-US" sz="2400" dirty="0">
                <a:solidFill>
                  <a:srgbClr val="324B85"/>
                </a:solidFill>
                <a:cs typeface="Helvetica" panose="020B0604020202020204" pitchFamily="34" charset="0"/>
              </a:rPr>
              <a:t>Building Blocks of Deep Learning</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2" name="Image 1">
            <a:extLst>
              <a:ext uri="{FF2B5EF4-FFF2-40B4-BE49-F238E27FC236}">
                <a16:creationId xmlns:a16="http://schemas.microsoft.com/office/drawing/2014/main" id="{C7CF3636-7FA6-18EF-F1BE-79AD45AC1E5A}"/>
              </a:ext>
            </a:extLst>
          </p:cNvPr>
          <p:cNvPicPr>
            <a:picLocks noChangeAspect="1"/>
          </p:cNvPicPr>
          <p:nvPr/>
        </p:nvPicPr>
        <p:blipFill>
          <a:blip r:embed="rId6"/>
          <a:stretch>
            <a:fillRect/>
          </a:stretch>
        </p:blipFill>
        <p:spPr>
          <a:xfrm>
            <a:off x="3961270" y="3820055"/>
            <a:ext cx="4269459" cy="2581689"/>
          </a:xfrm>
          <a:prstGeom prst="rect">
            <a:avLst/>
          </a:prstGeom>
        </p:spPr>
      </p:pic>
    </p:spTree>
    <p:extLst>
      <p:ext uri="{BB962C8B-B14F-4D97-AF65-F5344CB8AC3E}">
        <p14:creationId xmlns:p14="http://schemas.microsoft.com/office/powerpoint/2010/main" val="1684388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10</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Forward Propagation : Inputs and Neurons </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sz="4900" dirty="0"/>
              <a:t>Inputs and Neurons</a:t>
            </a:r>
            <a:br>
              <a:rPr lang="en-US" dirty="0"/>
            </a:br>
            <a:r>
              <a:rPr lang="en-US" sz="2400" dirty="0">
                <a:solidFill>
                  <a:srgbClr val="324B85"/>
                </a:solidFill>
                <a:cs typeface="Helvetica" panose="020B0604020202020204" pitchFamily="34" charset="0"/>
              </a:rPr>
              <a:t>Building Blocks of Deep Learning</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5" name="Image 4">
            <a:extLst>
              <a:ext uri="{FF2B5EF4-FFF2-40B4-BE49-F238E27FC236}">
                <a16:creationId xmlns:a16="http://schemas.microsoft.com/office/drawing/2014/main" id="{AF851737-2E84-6447-5ECF-DEE593381240}"/>
              </a:ext>
            </a:extLst>
          </p:cNvPr>
          <p:cNvPicPr>
            <a:picLocks noChangeAspect="1"/>
          </p:cNvPicPr>
          <p:nvPr/>
        </p:nvPicPr>
        <p:blipFill>
          <a:blip r:embed="rId5"/>
          <a:srcRect l="7509" t="11404" r="6756" b="27966"/>
          <a:stretch/>
        </p:blipFill>
        <p:spPr>
          <a:xfrm>
            <a:off x="1181818" y="1446305"/>
            <a:ext cx="9828363" cy="4157932"/>
          </a:xfrm>
          <a:prstGeom prst="rect">
            <a:avLst/>
          </a:prstGeom>
        </p:spPr>
      </p:pic>
      <p:sp>
        <p:nvSpPr>
          <p:cNvPr id="8" name="Espace réservé du contenu 2">
            <a:extLst>
              <a:ext uri="{FF2B5EF4-FFF2-40B4-BE49-F238E27FC236}">
                <a16:creationId xmlns:a16="http://schemas.microsoft.com/office/drawing/2014/main" id="{D5A78C60-2E7E-4B7C-FA76-652AB361CAAD}"/>
              </a:ext>
            </a:extLst>
          </p:cNvPr>
          <p:cNvSpPr>
            <a:spLocks noGrp="1"/>
          </p:cNvSpPr>
          <p:nvPr>
            <p:ph idx="1"/>
          </p:nvPr>
        </p:nvSpPr>
        <p:spPr>
          <a:xfrm>
            <a:off x="3926541" y="5425342"/>
            <a:ext cx="7440706" cy="842609"/>
          </a:xfrm>
        </p:spPr>
        <p:txBody>
          <a:bodyPr>
            <a:normAutofit/>
          </a:bodyPr>
          <a:lstStyle/>
          <a:p>
            <a:pPr marL="457200" lvl="1" indent="0" algn="ctr">
              <a:buNone/>
            </a:pPr>
            <a:r>
              <a:rPr lang="en-US" dirty="0"/>
              <a:t>Importance with the initialization of weights ! </a:t>
            </a:r>
          </a:p>
          <a:p>
            <a:pPr marL="457200" lvl="1" indent="0" algn="ctr">
              <a:buNone/>
            </a:pPr>
            <a:r>
              <a:rPr lang="en-US" dirty="0"/>
              <a:t>Breaking the Symmetry !</a:t>
            </a:r>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7FEB771E-12E1-AC54-ED12-4AAB05C018E4}"/>
                  </a:ext>
                </a:extLst>
              </p:cNvPr>
              <p:cNvSpPr txBox="1"/>
              <p:nvPr/>
            </p:nvSpPr>
            <p:spPr>
              <a:xfrm>
                <a:off x="4666891" y="2681076"/>
                <a:ext cx="2815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1" i="1" smtClean="0">
                          <a:latin typeface="Cambria Math" panose="02040503050406030204" pitchFamily="18" charset="0"/>
                        </a:rPr>
                        <m:t>𝑾</m:t>
                      </m:r>
                    </m:oMath>
                  </m:oMathPara>
                </a14:m>
                <a:endParaRPr lang="en-US" b="1" dirty="0"/>
              </a:p>
            </p:txBody>
          </p:sp>
        </mc:Choice>
        <mc:Fallback xmlns="">
          <p:sp>
            <p:nvSpPr>
              <p:cNvPr id="9" name="ZoneTexte 8">
                <a:extLst>
                  <a:ext uri="{FF2B5EF4-FFF2-40B4-BE49-F238E27FC236}">
                    <a16:creationId xmlns:a16="http://schemas.microsoft.com/office/drawing/2014/main" id="{7FEB771E-12E1-AC54-ED12-4AAB05C018E4}"/>
                  </a:ext>
                </a:extLst>
              </p:cNvPr>
              <p:cNvSpPr txBox="1">
                <a:spLocks noRot="1" noChangeAspect="1" noMove="1" noResize="1" noEditPoints="1" noAdjustHandles="1" noChangeArrowheads="1" noChangeShapeType="1" noTextEdit="1"/>
              </p:cNvSpPr>
              <p:nvPr/>
            </p:nvSpPr>
            <p:spPr>
              <a:xfrm>
                <a:off x="4666891" y="2681076"/>
                <a:ext cx="281551" cy="276999"/>
              </a:xfrm>
              <a:prstGeom prst="rect">
                <a:avLst/>
              </a:prstGeom>
              <a:blipFill>
                <a:blip r:embed="rId6"/>
                <a:stretch>
                  <a:fillRect l="-19565" r="-19565" b="-6667"/>
                </a:stretch>
              </a:blipFill>
            </p:spPr>
            <p:txBody>
              <a:bodyPr/>
              <a:lstStyle/>
              <a:p>
                <a:r>
                  <a:rPr lang="en-US">
                    <a:noFill/>
                  </a:rPr>
                  <a:t> </a:t>
                </a:r>
              </a:p>
            </p:txBody>
          </p:sp>
        </mc:Fallback>
      </mc:AlternateContent>
      <p:sp>
        <p:nvSpPr>
          <p:cNvPr id="10" name="ZoneTexte 9">
            <a:extLst>
              <a:ext uri="{FF2B5EF4-FFF2-40B4-BE49-F238E27FC236}">
                <a16:creationId xmlns:a16="http://schemas.microsoft.com/office/drawing/2014/main" id="{FCEF7EC3-B938-1B59-FCE7-DD5FF8B204F1}"/>
              </a:ext>
            </a:extLst>
          </p:cNvPr>
          <p:cNvSpPr txBox="1"/>
          <p:nvPr/>
        </p:nvSpPr>
        <p:spPr>
          <a:xfrm>
            <a:off x="5836870" y="2681075"/>
            <a:ext cx="126638" cy="276999"/>
          </a:xfrm>
          <a:prstGeom prst="rect">
            <a:avLst/>
          </a:prstGeom>
          <a:noFill/>
        </p:spPr>
        <p:txBody>
          <a:bodyPr wrap="none" lIns="0" tIns="0" rIns="0" bIns="0" rtlCol="0">
            <a:spAutoFit/>
          </a:bodyPr>
          <a:lstStyle/>
          <a:p>
            <a:r>
              <a:rPr lang="en-US" b="1" dirty="0"/>
              <a:t>X</a:t>
            </a:r>
          </a:p>
        </p:txBody>
      </p:sp>
      <p:sp>
        <p:nvSpPr>
          <p:cNvPr id="11" name="ZoneTexte 10">
            <a:extLst>
              <a:ext uri="{FF2B5EF4-FFF2-40B4-BE49-F238E27FC236}">
                <a16:creationId xmlns:a16="http://schemas.microsoft.com/office/drawing/2014/main" id="{A268DEF9-678C-D832-4C07-1616E2B2C37E}"/>
              </a:ext>
            </a:extLst>
          </p:cNvPr>
          <p:cNvSpPr txBox="1"/>
          <p:nvPr/>
        </p:nvSpPr>
        <p:spPr>
          <a:xfrm>
            <a:off x="6725298" y="2886188"/>
            <a:ext cx="123432" cy="276999"/>
          </a:xfrm>
          <a:prstGeom prst="rect">
            <a:avLst/>
          </a:prstGeom>
          <a:noFill/>
        </p:spPr>
        <p:txBody>
          <a:bodyPr wrap="none" lIns="0" tIns="0" rIns="0" bIns="0" rtlCol="0">
            <a:spAutoFit/>
          </a:bodyPr>
          <a:lstStyle/>
          <a:p>
            <a:r>
              <a:rPr lang="en-US" b="1" dirty="0"/>
              <a:t>b</a:t>
            </a:r>
          </a:p>
        </p:txBody>
      </p:sp>
      <p:sp>
        <p:nvSpPr>
          <p:cNvPr id="12" name="ZoneTexte 11">
            <a:extLst>
              <a:ext uri="{FF2B5EF4-FFF2-40B4-BE49-F238E27FC236}">
                <a16:creationId xmlns:a16="http://schemas.microsoft.com/office/drawing/2014/main" id="{ADD66E4B-5776-2051-3018-089933C6FEFD}"/>
              </a:ext>
            </a:extLst>
          </p:cNvPr>
          <p:cNvSpPr txBox="1"/>
          <p:nvPr/>
        </p:nvSpPr>
        <p:spPr>
          <a:xfrm>
            <a:off x="8498947" y="2681076"/>
            <a:ext cx="110608" cy="276999"/>
          </a:xfrm>
          <a:prstGeom prst="rect">
            <a:avLst/>
          </a:prstGeom>
          <a:noFill/>
        </p:spPr>
        <p:txBody>
          <a:bodyPr wrap="none" lIns="0" tIns="0" rIns="0" bIns="0" rtlCol="0">
            <a:spAutoFit/>
          </a:bodyPr>
          <a:lstStyle/>
          <a:p>
            <a:r>
              <a:rPr lang="en-US" b="1" dirty="0"/>
              <a:t>Z</a:t>
            </a:r>
          </a:p>
        </p:txBody>
      </p:sp>
      <p:sp>
        <p:nvSpPr>
          <p:cNvPr id="13" name="ZoneTexte 12">
            <a:extLst>
              <a:ext uri="{FF2B5EF4-FFF2-40B4-BE49-F238E27FC236}">
                <a16:creationId xmlns:a16="http://schemas.microsoft.com/office/drawing/2014/main" id="{F21A9B71-7DBE-7403-67F1-79D5C5069007}"/>
              </a:ext>
            </a:extLst>
          </p:cNvPr>
          <p:cNvSpPr txBox="1"/>
          <p:nvPr/>
        </p:nvSpPr>
        <p:spPr>
          <a:xfrm>
            <a:off x="10586373" y="2694015"/>
            <a:ext cx="139462" cy="276999"/>
          </a:xfrm>
          <a:prstGeom prst="rect">
            <a:avLst/>
          </a:prstGeom>
          <a:noFill/>
        </p:spPr>
        <p:txBody>
          <a:bodyPr wrap="none" lIns="0" tIns="0" rIns="0" bIns="0" rtlCol="0">
            <a:spAutoFit/>
          </a:bodyPr>
          <a:lstStyle/>
          <a:p>
            <a:r>
              <a:rPr lang="en-US" b="1" dirty="0"/>
              <a:t>A</a:t>
            </a:r>
          </a:p>
        </p:txBody>
      </p:sp>
      <mc:AlternateContent xmlns:mc="http://schemas.openxmlformats.org/markup-compatibility/2006">
        <mc:Choice xmlns:a14="http://schemas.microsoft.com/office/drawing/2010/main" Requires="a14">
          <p:sp>
            <p:nvSpPr>
              <p:cNvPr id="14" name="ZoneTexte 13">
                <a:extLst>
                  <a:ext uri="{FF2B5EF4-FFF2-40B4-BE49-F238E27FC236}">
                    <a16:creationId xmlns:a16="http://schemas.microsoft.com/office/drawing/2014/main" id="{B92D6DA8-2677-D6A4-7EE1-4F7F12BDF4A7}"/>
                  </a:ext>
                </a:extLst>
              </p:cNvPr>
              <p:cNvSpPr txBox="1"/>
              <p:nvPr/>
            </p:nvSpPr>
            <p:spPr>
              <a:xfrm>
                <a:off x="5612010" y="1380305"/>
                <a:ext cx="5040162" cy="686535"/>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wrap="none" lIns="0" tIns="0" rIns="0" bIns="0" rtlCol="0">
                <a:spAutoFit/>
              </a:bodyPr>
              <a:lstStyle/>
              <a:p>
                <a:r>
                  <a:rPr lang="en-US" sz="2000" b="0" dirty="0"/>
                  <a:t>Multiples </a:t>
                </a:r>
                <a:r>
                  <a:rPr lang="en-US" sz="2000" dirty="0"/>
                  <a:t>N</a:t>
                </a:r>
                <a:r>
                  <a:rPr lang="en-US" sz="2000" b="0" dirty="0"/>
                  <a:t>eurons in One Layer = </a:t>
                </a:r>
                <a14:m>
                  <m:oMath xmlns:m="http://schemas.openxmlformats.org/officeDocument/2006/math">
                    <m:d>
                      <m:dPr>
                        <m:begChr m:val="{"/>
                        <m:endChr m:val=""/>
                        <m:ctrlPr>
                          <a:rPr lang="en-US" sz="2000" b="0" i="1" smtClean="0">
                            <a:latin typeface="Cambria Math" panose="02040503050406030204" pitchFamily="18" charset="0"/>
                          </a:rPr>
                        </m:ctrlPr>
                      </m:dPr>
                      <m:e>
                        <m:eqArr>
                          <m:eqArrPr>
                            <m:ctrlPr>
                              <a:rPr lang="en-US" sz="2000" b="1" i="1" smtClean="0">
                                <a:latin typeface="Cambria Math" panose="02040503050406030204" pitchFamily="18" charset="0"/>
                              </a:rPr>
                            </m:ctrlPr>
                          </m:eqArrPr>
                          <m:e>
                            <m:r>
                              <a:rPr lang="en-US" sz="2000" b="1" i="1" smtClean="0">
                                <a:latin typeface="Cambria Math" panose="02040503050406030204" pitchFamily="18" charset="0"/>
                              </a:rPr>
                              <m:t>𝒁</m:t>
                            </m:r>
                            <m:r>
                              <a:rPr lang="en-US" sz="2000" b="1" i="1" smtClean="0">
                                <a:latin typeface="Cambria Math" panose="02040503050406030204" pitchFamily="18" charset="0"/>
                              </a:rPr>
                              <m:t>=</m:t>
                            </m:r>
                            <m:r>
                              <a:rPr lang="en-US" sz="2000" b="1" i="1" smtClean="0">
                                <a:latin typeface="Cambria Math" panose="02040503050406030204" pitchFamily="18" charset="0"/>
                              </a:rPr>
                              <m:t>𝑾𝑿</m:t>
                            </m:r>
                            <m:r>
                              <a:rPr lang="en-US" sz="2000" b="0" i="1" smtClean="0">
                                <a:latin typeface="Cambria Math" panose="02040503050406030204" pitchFamily="18" charset="0"/>
                              </a:rPr>
                              <m:t>+</m:t>
                            </m:r>
                            <m:r>
                              <a:rPr lang="en-US" sz="2000" b="1" i="1" smtClean="0">
                                <a:latin typeface="Cambria Math" panose="02040503050406030204" pitchFamily="18" charset="0"/>
                              </a:rPr>
                              <m:t>𝒃</m:t>
                            </m:r>
                          </m:e>
                          <m:e>
                            <m:r>
                              <a:rPr lang="en-US" sz="2000" b="1" i="1" smtClean="0">
                                <a:latin typeface="Cambria Math" panose="02040503050406030204" pitchFamily="18" charset="0"/>
                              </a:rPr>
                              <m:t>𝑨</m:t>
                            </m:r>
                            <m:r>
                              <a:rPr lang="en-US" sz="2000" b="1"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𝜙</m:t>
                            </m:r>
                            <m:d>
                              <m:dPr>
                                <m:ctrlPr>
                                  <a:rPr lang="en-US" sz="2000" i="1" smtClean="0">
                                    <a:latin typeface="Cambria Math" panose="02040503050406030204" pitchFamily="18" charset="0"/>
                                    <a:ea typeface="Cambria Math" panose="02040503050406030204" pitchFamily="18" charset="0"/>
                                  </a:rPr>
                                </m:ctrlPr>
                              </m:dPr>
                              <m:e>
                                <m:r>
                                  <a:rPr lang="fr-FR" sz="2000" b="1" i="1" smtClean="0">
                                    <a:latin typeface="Cambria Math" panose="02040503050406030204" pitchFamily="18" charset="0"/>
                                    <a:ea typeface="Cambria Math" panose="02040503050406030204" pitchFamily="18" charset="0"/>
                                  </a:rPr>
                                  <m:t>𝒁</m:t>
                                </m:r>
                              </m:e>
                            </m:d>
                          </m:e>
                        </m:eqArr>
                      </m:e>
                    </m:d>
                  </m:oMath>
                </a14:m>
                <a:endParaRPr lang="en-US" sz="2000" b="0" dirty="0"/>
              </a:p>
            </p:txBody>
          </p:sp>
        </mc:Choice>
        <mc:Fallback>
          <p:sp>
            <p:nvSpPr>
              <p:cNvPr id="14" name="ZoneTexte 13">
                <a:extLst>
                  <a:ext uri="{FF2B5EF4-FFF2-40B4-BE49-F238E27FC236}">
                    <a16:creationId xmlns:a16="http://schemas.microsoft.com/office/drawing/2014/main" id="{B92D6DA8-2677-D6A4-7EE1-4F7F12BDF4A7}"/>
                  </a:ext>
                </a:extLst>
              </p:cNvPr>
              <p:cNvSpPr txBox="1">
                <a:spLocks noRot="1" noChangeAspect="1" noMove="1" noResize="1" noEditPoints="1" noAdjustHandles="1" noChangeArrowheads="1" noChangeShapeType="1" noTextEdit="1"/>
              </p:cNvSpPr>
              <p:nvPr/>
            </p:nvSpPr>
            <p:spPr>
              <a:xfrm>
                <a:off x="5612010" y="1380305"/>
                <a:ext cx="5040162" cy="686535"/>
              </a:xfrm>
              <a:prstGeom prst="rect">
                <a:avLst/>
              </a:prstGeom>
              <a:blipFill>
                <a:blip r:embed="rId7"/>
                <a:stretch>
                  <a:fillRect l="-3019"/>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1723025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11</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Forward Propagation : Activation Functions </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 name="Espace réservé du contenu 2">
            <a:extLst>
              <a:ext uri="{FF2B5EF4-FFF2-40B4-BE49-F238E27FC236}">
                <a16:creationId xmlns:a16="http://schemas.microsoft.com/office/drawing/2014/main" id="{01B896DC-9F64-077C-FF27-BBAC9172EF9D}"/>
              </a:ext>
            </a:extLst>
          </p:cNvPr>
          <p:cNvSpPr>
            <a:spLocks noGrp="1"/>
          </p:cNvSpPr>
          <p:nvPr>
            <p:ph idx="1"/>
          </p:nvPr>
        </p:nvSpPr>
        <p:spPr>
          <a:xfrm>
            <a:off x="170822" y="1270115"/>
            <a:ext cx="11767527" cy="5176731"/>
          </a:xfrm>
        </p:spPr>
        <p:txBody>
          <a:bodyPr>
            <a:normAutofit/>
          </a:bodyPr>
          <a:lstStyle/>
          <a:p>
            <a:pPr lvl="1" algn="just"/>
            <a:r>
              <a:rPr lang="en-US" dirty="0"/>
              <a:t>A key point in neural networks is that they do not work well if all activation functions are linear (the network then collapses to a single linear model).</a:t>
            </a:r>
          </a:p>
          <a:p>
            <a:pPr lvl="1" algn="just"/>
            <a:r>
              <a:rPr lang="en-US" dirty="0"/>
              <a:t>To extract features and represent nonlinear patterns in data, we choose nonlinear activation functions.</a:t>
            </a:r>
          </a:p>
          <a:p>
            <a:pPr lvl="1" algn="just"/>
            <a:r>
              <a:rPr lang="en-US" dirty="0"/>
              <a:t>Good activation functions are typically differentiable (or almost everywhere), have stable gradients, are numerically stable, are computationally efficient, and have useful statistical properties.</a:t>
            </a:r>
          </a:p>
        </p:txBody>
      </p:sp>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sz="4900" dirty="0"/>
              <a:t>Activation Functions</a:t>
            </a:r>
            <a:br>
              <a:rPr lang="en-US" dirty="0"/>
            </a:br>
            <a:r>
              <a:rPr lang="en-US" sz="2400" dirty="0">
                <a:solidFill>
                  <a:srgbClr val="324B85"/>
                </a:solidFill>
                <a:cs typeface="Helvetica" panose="020B0604020202020204" pitchFamily="34" charset="0"/>
              </a:rPr>
              <a:t>Building Blocks of Deep Learning</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11" name="Image 10">
            <a:extLst>
              <a:ext uri="{FF2B5EF4-FFF2-40B4-BE49-F238E27FC236}">
                <a16:creationId xmlns:a16="http://schemas.microsoft.com/office/drawing/2014/main" id="{16B82918-0543-6A74-8E15-9EE2F1534B78}"/>
              </a:ext>
            </a:extLst>
          </p:cNvPr>
          <p:cNvPicPr>
            <a:picLocks noChangeAspect="1"/>
          </p:cNvPicPr>
          <p:nvPr/>
        </p:nvPicPr>
        <p:blipFill>
          <a:blip r:embed="rId5"/>
          <a:stretch>
            <a:fillRect/>
          </a:stretch>
        </p:blipFill>
        <p:spPr>
          <a:xfrm>
            <a:off x="3669102" y="3523346"/>
            <a:ext cx="8269247" cy="2876550"/>
          </a:xfrm>
          <a:prstGeom prst="rect">
            <a:avLst/>
          </a:prstGeom>
        </p:spPr>
      </p:pic>
      <mc:AlternateContent xmlns:mc="http://schemas.openxmlformats.org/markup-compatibility/2006">
        <mc:Choice xmlns:a14="http://schemas.microsoft.com/office/drawing/2010/main" Requires="a14">
          <p:sp>
            <p:nvSpPr>
              <p:cNvPr id="13" name="ZoneTexte 12">
                <a:extLst>
                  <a:ext uri="{FF2B5EF4-FFF2-40B4-BE49-F238E27FC236}">
                    <a16:creationId xmlns:a16="http://schemas.microsoft.com/office/drawing/2014/main" id="{B0207AC0-8209-AA11-16DB-B61AA23157DA}"/>
                  </a:ext>
                </a:extLst>
              </p:cNvPr>
              <p:cNvSpPr txBox="1"/>
              <p:nvPr/>
            </p:nvSpPr>
            <p:spPr>
              <a:xfrm>
                <a:off x="467978" y="3955627"/>
                <a:ext cx="3137910" cy="20846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noBar"/>
                          <m:ctrlPr>
                            <a:rPr lang="en-US" sz="2000" i="1" smtClean="0">
                              <a:latin typeface="Cambria Math" panose="02040503050406030204" pitchFamily="18" charset="0"/>
                            </a:rPr>
                          </m:ctrlPr>
                        </m:fPr>
                        <m:num>
                          <m:eqArr>
                            <m:eqArrPr>
                              <m:ctrlPr>
                                <a:rPr lang="fr-FR" sz="2000" b="0" i="1" smtClean="0">
                                  <a:latin typeface="Cambria Math" panose="02040503050406030204" pitchFamily="18" charset="0"/>
                                </a:rPr>
                              </m:ctrlPr>
                            </m:eqArrPr>
                            <m:e>
                              <m:r>
                                <a:rPr lang="fr-FR" sz="2000" b="0" i="1" smtClean="0">
                                  <a:latin typeface="Cambria Math" panose="02040503050406030204" pitchFamily="18" charset="0"/>
                                </a:rPr>
                                <m:t>𝑆𝑖𝑔𝑚𝑜𝑖𝑑</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𝑧</m:t>
                                  </m:r>
                                </m:e>
                              </m:d>
                              <m:r>
                                <a:rPr lang="fr-FR" sz="2000" b="0" i="1" smtClean="0">
                                  <a:latin typeface="Cambria Math" panose="02040503050406030204" pitchFamily="18" charset="0"/>
                                </a:rPr>
                                <m:t>=</m:t>
                              </m:r>
                              <m:f>
                                <m:fPr>
                                  <m:ctrlPr>
                                    <a:rPr lang="fr-FR" sz="2000" b="0" i="1" smtClean="0">
                                      <a:latin typeface="Cambria Math" panose="02040503050406030204" pitchFamily="18" charset="0"/>
                                    </a:rPr>
                                  </m:ctrlPr>
                                </m:fPr>
                                <m:num>
                                  <m:r>
                                    <a:rPr lang="fr-FR" sz="2000" b="0" i="1" smtClean="0">
                                      <a:latin typeface="Cambria Math" panose="02040503050406030204" pitchFamily="18" charset="0"/>
                                    </a:rPr>
                                    <m:t>1</m:t>
                                  </m:r>
                                </m:num>
                                <m:den>
                                  <m:r>
                                    <a:rPr lang="fr-FR" sz="2000" b="0" i="1" smtClean="0">
                                      <a:latin typeface="Cambria Math" panose="02040503050406030204" pitchFamily="18" charset="0"/>
                                    </a:rPr>
                                    <m:t>1+</m:t>
                                  </m:r>
                                  <m:sSup>
                                    <m:sSupPr>
                                      <m:ctrlPr>
                                        <a:rPr lang="fr-FR" sz="2000" b="0" i="1" smtClean="0">
                                          <a:latin typeface="Cambria Math" panose="02040503050406030204" pitchFamily="18" charset="0"/>
                                        </a:rPr>
                                      </m:ctrlPr>
                                    </m:sSupPr>
                                    <m:e>
                                      <m:r>
                                        <a:rPr lang="fr-FR" sz="2000" b="0" i="1" smtClean="0">
                                          <a:latin typeface="Cambria Math" panose="02040503050406030204" pitchFamily="18" charset="0"/>
                                        </a:rPr>
                                        <m:t>𝑒</m:t>
                                      </m:r>
                                    </m:e>
                                    <m:sup>
                                      <m:r>
                                        <a:rPr lang="fr-FR" sz="2000" b="0" i="1" smtClean="0">
                                          <a:latin typeface="Cambria Math" panose="02040503050406030204" pitchFamily="18" charset="0"/>
                                        </a:rPr>
                                        <m:t>−</m:t>
                                      </m:r>
                                      <m:r>
                                        <a:rPr lang="fr-FR" sz="2000" b="0" i="1" smtClean="0">
                                          <a:latin typeface="Cambria Math" panose="02040503050406030204" pitchFamily="18" charset="0"/>
                                        </a:rPr>
                                        <m:t>𝑧</m:t>
                                      </m:r>
                                    </m:sup>
                                  </m:sSup>
                                </m:den>
                              </m:f>
                            </m:e>
                            <m:e>
                              <m:r>
                                <a:rPr lang="fr-FR" sz="2000" i="1">
                                  <a:latin typeface="Cambria Math" panose="02040503050406030204" pitchFamily="18" charset="0"/>
                                </a:rPr>
                                <m:t>𝑅𝑒𝐿𝑈</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𝑧</m:t>
                                  </m:r>
                                </m:e>
                              </m:d>
                              <m:r>
                                <a:rPr lang="fr-FR" sz="2000" b="0" i="1" smtClean="0">
                                  <a:latin typeface="Cambria Math" panose="02040503050406030204" pitchFamily="18" charset="0"/>
                                </a:rPr>
                                <m:t>=</m:t>
                              </m:r>
                              <m:func>
                                <m:funcPr>
                                  <m:ctrlPr>
                                    <a:rPr lang="fr-FR" sz="2000" b="0" i="1" smtClean="0">
                                      <a:latin typeface="Cambria Math" panose="02040503050406030204" pitchFamily="18" charset="0"/>
                                    </a:rPr>
                                  </m:ctrlPr>
                                </m:funcPr>
                                <m:fName>
                                  <m:r>
                                    <m:rPr>
                                      <m:sty m:val="p"/>
                                    </m:rPr>
                                    <a:rPr lang="fr-FR" sz="2000" b="0" i="0" smtClean="0">
                                      <a:latin typeface="Cambria Math" panose="02040503050406030204" pitchFamily="18" charset="0"/>
                                    </a:rPr>
                                    <m:t>max</m:t>
                                  </m:r>
                                </m:fName>
                                <m:e>
                                  <m:d>
                                    <m:dPr>
                                      <m:ctrlPr>
                                        <a:rPr lang="fr-FR" sz="2000" b="0" i="1" smtClean="0">
                                          <a:latin typeface="Cambria Math" panose="02040503050406030204" pitchFamily="18" charset="0"/>
                                        </a:rPr>
                                      </m:ctrlPr>
                                    </m:dPr>
                                    <m:e>
                                      <m:r>
                                        <a:rPr lang="fr-FR" sz="2000" b="0" i="1" smtClean="0">
                                          <a:latin typeface="Cambria Math" panose="02040503050406030204" pitchFamily="18" charset="0"/>
                                        </a:rPr>
                                        <m:t>0,</m:t>
                                      </m:r>
                                      <m:r>
                                        <a:rPr lang="fr-FR" sz="2000" b="0" i="1" smtClean="0">
                                          <a:latin typeface="Cambria Math" panose="02040503050406030204" pitchFamily="18" charset="0"/>
                                        </a:rPr>
                                        <m:t>𝑧</m:t>
                                      </m:r>
                                    </m:e>
                                  </m:d>
                                </m:e>
                              </m:func>
                            </m:e>
                          </m:eqArr>
                        </m:num>
                        <m:den>
                          <m:eqArr>
                            <m:eqArrPr>
                              <m:ctrlPr>
                                <a:rPr lang="fr-FR" sz="2000" b="0" i="1" smtClean="0">
                                  <a:latin typeface="Cambria Math" panose="02040503050406030204" pitchFamily="18" charset="0"/>
                                </a:rPr>
                              </m:ctrlPr>
                            </m:eqArrPr>
                            <m:e>
                              <m:r>
                                <a:rPr lang="fr-FR" sz="2000" b="0" i="1" smtClean="0">
                                  <a:latin typeface="Cambria Math" panose="02040503050406030204" pitchFamily="18" charset="0"/>
                                </a:rPr>
                                <m:t>𝑇𝑎𝑛h</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𝑧</m:t>
                                  </m:r>
                                </m:e>
                              </m:d>
                              <m:r>
                                <a:rPr lang="fr-FR" sz="2000" b="0" i="1" smtClean="0">
                                  <a:latin typeface="Cambria Math" panose="02040503050406030204" pitchFamily="18" charset="0"/>
                                </a:rPr>
                                <m:t>=</m:t>
                              </m:r>
                              <m:f>
                                <m:fPr>
                                  <m:ctrlPr>
                                    <a:rPr lang="fr-FR" sz="2000" b="0" i="1" smtClean="0">
                                      <a:latin typeface="Cambria Math" panose="02040503050406030204" pitchFamily="18" charset="0"/>
                                    </a:rPr>
                                  </m:ctrlPr>
                                </m:fPr>
                                <m:num>
                                  <m:sSup>
                                    <m:sSupPr>
                                      <m:ctrlPr>
                                        <a:rPr lang="fr-FR" sz="2000" i="1">
                                          <a:latin typeface="Cambria Math" panose="02040503050406030204" pitchFamily="18" charset="0"/>
                                        </a:rPr>
                                      </m:ctrlPr>
                                    </m:sSupPr>
                                    <m:e>
                                      <m:r>
                                        <a:rPr lang="fr-FR" sz="2000" i="1">
                                          <a:latin typeface="Cambria Math" panose="02040503050406030204" pitchFamily="18" charset="0"/>
                                        </a:rPr>
                                        <m:t>𝑒</m:t>
                                      </m:r>
                                    </m:e>
                                    <m:sup>
                                      <m:r>
                                        <a:rPr lang="fr-FR" sz="2000" i="1">
                                          <a:latin typeface="Cambria Math" panose="02040503050406030204" pitchFamily="18" charset="0"/>
                                        </a:rPr>
                                        <m:t>𝑧</m:t>
                                      </m:r>
                                    </m:sup>
                                  </m:sSup>
                                  <m:r>
                                    <a:rPr lang="fr-FR" sz="2000" b="0" i="1" smtClean="0">
                                      <a:latin typeface="Cambria Math" panose="02040503050406030204" pitchFamily="18" charset="0"/>
                                    </a:rPr>
                                    <m:t>−</m:t>
                                  </m:r>
                                  <m:sSup>
                                    <m:sSupPr>
                                      <m:ctrlPr>
                                        <a:rPr lang="fr-FR" sz="2000" i="1">
                                          <a:latin typeface="Cambria Math" panose="02040503050406030204" pitchFamily="18" charset="0"/>
                                        </a:rPr>
                                      </m:ctrlPr>
                                    </m:sSupPr>
                                    <m:e>
                                      <m:r>
                                        <a:rPr lang="fr-FR" sz="2000" i="1">
                                          <a:latin typeface="Cambria Math" panose="02040503050406030204" pitchFamily="18" charset="0"/>
                                        </a:rPr>
                                        <m:t>𝑒</m:t>
                                      </m:r>
                                    </m:e>
                                    <m:sup>
                                      <m:r>
                                        <a:rPr lang="fr-FR" sz="2000" b="0" i="1" smtClean="0">
                                          <a:latin typeface="Cambria Math" panose="02040503050406030204" pitchFamily="18" charset="0"/>
                                        </a:rPr>
                                        <m:t>−</m:t>
                                      </m:r>
                                      <m:r>
                                        <a:rPr lang="fr-FR" sz="2000" i="1">
                                          <a:latin typeface="Cambria Math" panose="02040503050406030204" pitchFamily="18" charset="0"/>
                                        </a:rPr>
                                        <m:t>𝑧</m:t>
                                      </m:r>
                                    </m:sup>
                                  </m:sSup>
                                </m:num>
                                <m:den>
                                  <m:sSup>
                                    <m:sSupPr>
                                      <m:ctrlPr>
                                        <a:rPr lang="fr-FR" sz="2000" b="0" i="1" smtClean="0">
                                          <a:latin typeface="Cambria Math" panose="02040503050406030204" pitchFamily="18" charset="0"/>
                                        </a:rPr>
                                      </m:ctrlPr>
                                    </m:sSupPr>
                                    <m:e>
                                      <m:r>
                                        <a:rPr lang="fr-FR" sz="2000" b="0" i="1" smtClean="0">
                                          <a:latin typeface="Cambria Math" panose="02040503050406030204" pitchFamily="18" charset="0"/>
                                        </a:rPr>
                                        <m:t>𝑒</m:t>
                                      </m:r>
                                    </m:e>
                                    <m:sup>
                                      <m:r>
                                        <a:rPr lang="fr-FR" sz="2000" b="0" i="1" smtClean="0">
                                          <a:latin typeface="Cambria Math" panose="02040503050406030204" pitchFamily="18" charset="0"/>
                                        </a:rPr>
                                        <m:t>𝑧</m:t>
                                      </m:r>
                                    </m:sup>
                                  </m:sSup>
                                  <m:r>
                                    <a:rPr lang="fr-FR" sz="2000" b="0" i="1" smtClean="0">
                                      <a:latin typeface="Cambria Math" panose="02040503050406030204" pitchFamily="18" charset="0"/>
                                    </a:rPr>
                                    <m:t>+</m:t>
                                  </m:r>
                                  <m:sSup>
                                    <m:sSupPr>
                                      <m:ctrlPr>
                                        <a:rPr lang="fr-FR" sz="2000" i="1">
                                          <a:latin typeface="Cambria Math" panose="02040503050406030204" pitchFamily="18" charset="0"/>
                                        </a:rPr>
                                      </m:ctrlPr>
                                    </m:sSupPr>
                                    <m:e>
                                      <m:r>
                                        <a:rPr lang="fr-FR" sz="2000" i="1">
                                          <a:latin typeface="Cambria Math" panose="02040503050406030204" pitchFamily="18" charset="0"/>
                                        </a:rPr>
                                        <m:t>𝑒</m:t>
                                      </m:r>
                                    </m:e>
                                    <m:sup>
                                      <m:r>
                                        <a:rPr lang="fr-FR" sz="2000" b="0" i="1" smtClean="0">
                                          <a:latin typeface="Cambria Math" panose="02040503050406030204" pitchFamily="18" charset="0"/>
                                        </a:rPr>
                                        <m:t>−</m:t>
                                      </m:r>
                                      <m:r>
                                        <a:rPr lang="fr-FR" sz="2000" i="1">
                                          <a:latin typeface="Cambria Math" panose="02040503050406030204" pitchFamily="18" charset="0"/>
                                        </a:rPr>
                                        <m:t>𝑧</m:t>
                                      </m:r>
                                    </m:sup>
                                  </m:sSup>
                                </m:den>
                              </m:f>
                            </m:e>
                            <m:e>
                              <m:r>
                                <a:rPr lang="fr-FR" sz="2000" b="0" i="1" smtClean="0">
                                  <a:latin typeface="Cambria Math" panose="02040503050406030204" pitchFamily="18" charset="0"/>
                                </a:rPr>
                                <m:t>𝐸𝐿𝑈</m:t>
                              </m:r>
                              <m:d>
                                <m:dPr>
                                  <m:ctrlPr>
                                    <a:rPr lang="fr-FR" sz="2000" b="0" i="1" smtClean="0">
                                      <a:latin typeface="Cambria Math" panose="02040503050406030204" pitchFamily="18" charset="0"/>
                                    </a:rPr>
                                  </m:ctrlPr>
                                </m:dPr>
                                <m:e>
                                  <m:r>
                                    <a:rPr lang="fr-FR" sz="2000" b="0" i="1" smtClean="0">
                                      <a:latin typeface="Cambria Math" panose="02040503050406030204" pitchFamily="18" charset="0"/>
                                    </a:rPr>
                                    <m:t>𝑧</m:t>
                                  </m:r>
                                </m:e>
                              </m:d>
                              <m:r>
                                <a:rPr lang="fr-FR" sz="2000" b="0" i="1" smtClean="0">
                                  <a:latin typeface="Cambria Math" panose="02040503050406030204" pitchFamily="18" charset="0"/>
                                </a:rPr>
                                <m:t>=</m:t>
                              </m:r>
                              <m:d>
                                <m:dPr>
                                  <m:begChr m:val="{"/>
                                  <m:endChr m:val=""/>
                                  <m:ctrlPr>
                                    <a:rPr lang="fr-FR" sz="2000" b="0" i="1" smtClean="0">
                                      <a:latin typeface="Cambria Math" panose="02040503050406030204" pitchFamily="18" charset="0"/>
                                    </a:rPr>
                                  </m:ctrlPr>
                                </m:dPr>
                                <m:e>
                                  <m:eqArr>
                                    <m:eqArrPr>
                                      <m:ctrlPr>
                                        <a:rPr lang="fr-FR" sz="2000" b="0" i="1" smtClean="0">
                                          <a:latin typeface="Cambria Math" panose="02040503050406030204" pitchFamily="18" charset="0"/>
                                        </a:rPr>
                                      </m:ctrlPr>
                                    </m:eqArrPr>
                                    <m:e>
                                      <m:r>
                                        <a:rPr lang="fr-FR" sz="2000" b="0" i="1" smtClean="0">
                                          <a:latin typeface="Cambria Math" panose="02040503050406030204" pitchFamily="18" charset="0"/>
                                        </a:rPr>
                                        <m:t>𝑧</m:t>
                                      </m:r>
                                      <m:r>
                                        <a:rPr lang="fr-FR" sz="2000" b="0" i="1" smtClean="0">
                                          <a:latin typeface="Cambria Math" panose="02040503050406030204" pitchFamily="18" charset="0"/>
                                        </a:rPr>
                                        <m:t>                   </m:t>
                                      </m:r>
                                      <m:r>
                                        <a:rPr lang="fr-FR" sz="2000" b="0" i="1" smtClean="0">
                                          <a:latin typeface="Cambria Math" panose="02040503050406030204" pitchFamily="18" charset="0"/>
                                        </a:rPr>
                                        <m:t>𝑧</m:t>
                                      </m:r>
                                      <m:r>
                                        <a:rPr lang="fr-FR" sz="2000" b="0" i="1" smtClean="0">
                                          <a:latin typeface="Cambria Math" panose="02040503050406030204" pitchFamily="18" charset="0"/>
                                        </a:rPr>
                                        <m:t>≥0</m:t>
                                      </m:r>
                                    </m:e>
                                    <m:e>
                                      <m:r>
                                        <a:rPr lang="fr-FR" sz="2000" b="0" i="1" smtClean="0">
                                          <a:latin typeface="Cambria Math" panose="02040503050406030204" pitchFamily="18" charset="0"/>
                                        </a:rPr>
                                        <m:t>𝛼</m:t>
                                      </m:r>
                                      <m:d>
                                        <m:dPr>
                                          <m:ctrlPr>
                                            <a:rPr lang="fr-FR" sz="2000" b="0" i="1" smtClean="0">
                                              <a:latin typeface="Cambria Math" panose="02040503050406030204" pitchFamily="18" charset="0"/>
                                            </a:rPr>
                                          </m:ctrlPr>
                                        </m:dPr>
                                        <m:e>
                                          <m:sSup>
                                            <m:sSupPr>
                                              <m:ctrlPr>
                                                <a:rPr lang="fr-FR" sz="2000" b="0" i="1" smtClean="0">
                                                  <a:latin typeface="Cambria Math" panose="02040503050406030204" pitchFamily="18" charset="0"/>
                                                </a:rPr>
                                              </m:ctrlPr>
                                            </m:sSupPr>
                                            <m:e>
                                              <m:r>
                                                <a:rPr lang="fr-FR" sz="2000" b="0" i="1" smtClean="0">
                                                  <a:latin typeface="Cambria Math" panose="02040503050406030204" pitchFamily="18" charset="0"/>
                                                </a:rPr>
                                                <m:t>𝑒</m:t>
                                              </m:r>
                                            </m:e>
                                            <m:sup>
                                              <m:r>
                                                <a:rPr lang="fr-FR" sz="2000" b="0" i="1" smtClean="0">
                                                  <a:latin typeface="Cambria Math" panose="02040503050406030204" pitchFamily="18" charset="0"/>
                                                </a:rPr>
                                                <m:t>𝑧</m:t>
                                              </m:r>
                                            </m:sup>
                                          </m:sSup>
                                          <m:r>
                                            <a:rPr lang="fr-FR" sz="2000" b="0" i="1" smtClean="0">
                                              <a:latin typeface="Cambria Math" panose="02040503050406030204" pitchFamily="18" charset="0"/>
                                            </a:rPr>
                                            <m:t>−1</m:t>
                                          </m:r>
                                        </m:e>
                                      </m:d>
                                      <m:r>
                                        <a:rPr lang="fr-FR" sz="2000" b="0" i="1" smtClean="0">
                                          <a:latin typeface="Cambria Math" panose="02040503050406030204" pitchFamily="18" charset="0"/>
                                        </a:rPr>
                                        <m:t>  </m:t>
                                      </m:r>
                                      <m:r>
                                        <a:rPr lang="fr-FR" sz="2000" b="0" i="1" smtClean="0">
                                          <a:latin typeface="Cambria Math" panose="02040503050406030204" pitchFamily="18" charset="0"/>
                                        </a:rPr>
                                        <m:t>𝑧</m:t>
                                      </m:r>
                                      <m:r>
                                        <a:rPr lang="fr-FR" sz="2000" b="0" i="1" smtClean="0">
                                          <a:latin typeface="Cambria Math" panose="02040503050406030204" pitchFamily="18" charset="0"/>
                                        </a:rPr>
                                        <m:t>&lt;0</m:t>
                                      </m:r>
                                    </m:e>
                                  </m:eqArr>
                                </m:e>
                              </m:d>
                            </m:e>
                          </m:eqArr>
                        </m:den>
                      </m:f>
                    </m:oMath>
                  </m:oMathPara>
                </a14:m>
                <a:endParaRPr lang="en-US" dirty="0"/>
              </a:p>
            </p:txBody>
          </p:sp>
        </mc:Choice>
        <mc:Fallback>
          <p:sp>
            <p:nvSpPr>
              <p:cNvPr id="13" name="ZoneTexte 12">
                <a:extLst>
                  <a:ext uri="{FF2B5EF4-FFF2-40B4-BE49-F238E27FC236}">
                    <a16:creationId xmlns:a16="http://schemas.microsoft.com/office/drawing/2014/main" id="{B0207AC0-8209-AA11-16DB-B61AA23157DA}"/>
                  </a:ext>
                </a:extLst>
              </p:cNvPr>
              <p:cNvSpPr txBox="1">
                <a:spLocks noRot="1" noChangeAspect="1" noMove="1" noResize="1" noEditPoints="1" noAdjustHandles="1" noChangeArrowheads="1" noChangeShapeType="1" noTextEdit="1"/>
              </p:cNvSpPr>
              <p:nvPr/>
            </p:nvSpPr>
            <p:spPr>
              <a:xfrm>
                <a:off x="467978" y="3955627"/>
                <a:ext cx="3137910" cy="208461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63197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12</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Forward Propagation : Activation Functions </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sz="4900" dirty="0"/>
              <a:t>Activation Functions</a:t>
            </a:r>
            <a:br>
              <a:rPr lang="en-US" dirty="0"/>
            </a:br>
            <a:r>
              <a:rPr lang="en-US" sz="2400" dirty="0">
                <a:solidFill>
                  <a:srgbClr val="324B85"/>
                </a:solidFill>
                <a:cs typeface="Helvetica" panose="020B0604020202020204" pitchFamily="34" charset="0"/>
              </a:rPr>
              <a:t>Building Blocks of Deep Learning</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sp>
        <p:nvSpPr>
          <p:cNvPr id="5" name="ZoneTexte 4">
            <a:extLst>
              <a:ext uri="{FF2B5EF4-FFF2-40B4-BE49-F238E27FC236}">
                <a16:creationId xmlns:a16="http://schemas.microsoft.com/office/drawing/2014/main" id="{452B3258-C58C-9C3B-B064-8FB6C916C683}"/>
              </a:ext>
            </a:extLst>
          </p:cNvPr>
          <p:cNvSpPr txBox="1"/>
          <p:nvPr/>
        </p:nvSpPr>
        <p:spPr>
          <a:xfrm>
            <a:off x="7251331" y="2278756"/>
            <a:ext cx="4687019" cy="3046988"/>
          </a:xfrm>
          <a:prstGeom prst="rect">
            <a:avLst/>
          </a:prstGeom>
          <a:noFill/>
        </p:spPr>
        <p:txBody>
          <a:bodyPr wrap="square">
            <a:spAutoFit/>
          </a:bodyPr>
          <a:lstStyle/>
          <a:p>
            <a:pPr marL="285750" indent="-285750" algn="just">
              <a:buFont typeface="Arial" panose="020B0604020202020204" pitchFamily="34" charset="0"/>
              <a:buChar char="•"/>
            </a:pPr>
            <a:r>
              <a:rPr lang="en-US" sz="2400" dirty="0"/>
              <a:t>Universal Approximation : “A sufficiently large neural network with nonlinear activations can approximate any continuous function.”</a:t>
            </a:r>
          </a:p>
          <a:p>
            <a:pPr marL="285750" indent="-285750" algn="just">
              <a:buFont typeface="Arial" panose="020B0604020202020204" pitchFamily="34" charset="0"/>
              <a:buChar char="•"/>
            </a:pPr>
            <a:r>
              <a:rPr lang="en-US" sz="2400" dirty="0"/>
              <a:t>This explains why deep networks can learn rich representations (“feature extraction”).</a:t>
            </a:r>
          </a:p>
        </p:txBody>
      </p:sp>
      <p:pic>
        <p:nvPicPr>
          <p:cNvPr id="2" name="Image 1">
            <a:extLst>
              <a:ext uri="{FF2B5EF4-FFF2-40B4-BE49-F238E27FC236}">
                <a16:creationId xmlns:a16="http://schemas.microsoft.com/office/drawing/2014/main" id="{B7001A52-73EC-8AAE-7529-DC5796F50AF2}"/>
              </a:ext>
            </a:extLst>
          </p:cNvPr>
          <p:cNvPicPr>
            <a:picLocks noChangeAspect="1"/>
          </p:cNvPicPr>
          <p:nvPr/>
        </p:nvPicPr>
        <p:blipFill>
          <a:blip r:embed="rId5"/>
          <a:stretch>
            <a:fillRect/>
          </a:stretch>
        </p:blipFill>
        <p:spPr>
          <a:xfrm>
            <a:off x="207148" y="1879096"/>
            <a:ext cx="7000499" cy="3796741"/>
          </a:xfrm>
          <a:prstGeom prst="rect">
            <a:avLst/>
          </a:prstGeom>
        </p:spPr>
      </p:pic>
    </p:spTree>
    <p:extLst>
      <p:ext uri="{BB962C8B-B14F-4D97-AF65-F5344CB8AC3E}">
        <p14:creationId xmlns:p14="http://schemas.microsoft.com/office/powerpoint/2010/main" val="697490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13</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Forward Propagation</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sz="4900" dirty="0"/>
              <a:t>Multi-Layer Networks</a:t>
            </a:r>
            <a:br>
              <a:rPr lang="en-US" dirty="0"/>
            </a:br>
            <a:r>
              <a:rPr lang="en-US" sz="2400" dirty="0">
                <a:solidFill>
                  <a:srgbClr val="324B85"/>
                </a:solidFill>
                <a:cs typeface="Helvetica" panose="020B0604020202020204" pitchFamily="34" charset="0"/>
              </a:rPr>
              <a:t>Building Blocks of Deep Learning</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6" name="Image 5">
            <a:extLst>
              <a:ext uri="{FF2B5EF4-FFF2-40B4-BE49-F238E27FC236}">
                <a16:creationId xmlns:a16="http://schemas.microsoft.com/office/drawing/2014/main" id="{5A77D4E4-3461-E209-13D9-70FF5D8723F5}"/>
              </a:ext>
            </a:extLst>
          </p:cNvPr>
          <p:cNvPicPr>
            <a:picLocks noChangeAspect="1"/>
          </p:cNvPicPr>
          <p:nvPr/>
        </p:nvPicPr>
        <p:blipFill>
          <a:blip r:embed="rId5"/>
          <a:stretch>
            <a:fillRect/>
          </a:stretch>
        </p:blipFill>
        <p:spPr>
          <a:xfrm>
            <a:off x="668007" y="1839872"/>
            <a:ext cx="5427993" cy="3872063"/>
          </a:xfrm>
          <a:prstGeom prst="rect">
            <a:avLst/>
          </a:prstGeom>
        </p:spPr>
      </p:pic>
      <p:sp>
        <p:nvSpPr>
          <p:cNvPr id="15" name="Espace réservé du contenu 2">
            <a:extLst>
              <a:ext uri="{FF2B5EF4-FFF2-40B4-BE49-F238E27FC236}">
                <a16:creationId xmlns:a16="http://schemas.microsoft.com/office/drawing/2014/main" id="{9E837265-0BAF-760F-26B8-860F6BB81F4F}"/>
              </a:ext>
            </a:extLst>
          </p:cNvPr>
          <p:cNvSpPr>
            <a:spLocks noGrp="1"/>
          </p:cNvSpPr>
          <p:nvPr>
            <p:ph idx="1"/>
          </p:nvPr>
        </p:nvSpPr>
        <p:spPr>
          <a:xfrm>
            <a:off x="6291532" y="1129743"/>
            <a:ext cx="5693320" cy="5190062"/>
          </a:xfrm>
        </p:spPr>
        <p:txBody>
          <a:bodyPr>
            <a:normAutofit lnSpcReduction="10000"/>
          </a:bodyPr>
          <a:lstStyle/>
          <a:p>
            <a:pPr lvl="1" algn="just"/>
            <a:r>
              <a:rPr lang="en-US" dirty="0"/>
              <a:t>A DNN can be written as a composition of layers:</a:t>
            </a:r>
          </a:p>
          <a:p>
            <a:pPr lvl="1" algn="just"/>
            <a:endParaRPr lang="en-US" dirty="0"/>
          </a:p>
          <a:p>
            <a:pPr lvl="1" algn="just"/>
            <a:endParaRPr lang="en-US" dirty="0"/>
          </a:p>
          <a:p>
            <a:pPr lvl="1" algn="just"/>
            <a:endParaRPr lang="en-US" dirty="0"/>
          </a:p>
          <a:p>
            <a:pPr lvl="1" algn="just"/>
            <a:endParaRPr lang="en-US" dirty="0"/>
          </a:p>
          <a:p>
            <a:pPr lvl="1" algn="just"/>
            <a:r>
              <a:rPr lang="en-US" dirty="0"/>
              <a:t>Or in a more condensed form :</a:t>
            </a:r>
          </a:p>
          <a:p>
            <a:pPr lvl="1" algn="just"/>
            <a:endParaRPr lang="en-US" dirty="0"/>
          </a:p>
          <a:p>
            <a:pPr lvl="1" algn="just"/>
            <a:endParaRPr lang="en-US" dirty="0"/>
          </a:p>
          <a:p>
            <a:pPr lvl="1" algn="just"/>
            <a:endParaRPr lang="en-US" dirty="0"/>
          </a:p>
          <a:p>
            <a:pPr lvl="1" algn="just"/>
            <a:r>
              <a:rPr lang="en-US" dirty="0"/>
              <a:t>This computation is called the forward pass (or forward propagation).</a:t>
            </a:r>
          </a:p>
          <a:p>
            <a:pPr lvl="1" algn="just"/>
            <a:r>
              <a:rPr lang="en-US" dirty="0"/>
              <a:t>Note: there is no single universal naming convention for network notation.</a:t>
            </a:r>
          </a:p>
        </p:txBody>
      </p:sp>
      <mc:AlternateContent xmlns:mc="http://schemas.openxmlformats.org/markup-compatibility/2006">
        <mc:Choice xmlns:a14="http://schemas.microsoft.com/office/drawing/2010/main" Requires="a14">
          <p:sp>
            <p:nvSpPr>
              <p:cNvPr id="17" name="ZoneTexte 16">
                <a:extLst>
                  <a:ext uri="{FF2B5EF4-FFF2-40B4-BE49-F238E27FC236}">
                    <a16:creationId xmlns:a16="http://schemas.microsoft.com/office/drawing/2014/main" id="{F6F14F3D-FE12-0A30-F597-0D958F4157F6}"/>
                  </a:ext>
                </a:extLst>
              </p:cNvPr>
              <p:cNvSpPr txBox="1"/>
              <p:nvPr/>
            </p:nvSpPr>
            <p:spPr>
              <a:xfrm>
                <a:off x="6581085" y="1778977"/>
                <a:ext cx="5507341" cy="140038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type m:val="noBar"/>
                          <m:ctrlPr>
                            <a:rPr lang="en-US" sz="2000" i="1" smtClean="0">
                              <a:latin typeface="Cambria Math" panose="02040503050406030204" pitchFamily="18" charset="0"/>
                            </a:rPr>
                          </m:ctrlPr>
                        </m:fPr>
                        <m:num>
                          <m:sSup>
                            <m:sSupPr>
                              <m:ctrlPr>
                                <a:rPr lang="fr-FR" sz="2000" i="1">
                                  <a:latin typeface="Cambria Math" panose="02040503050406030204" pitchFamily="18" charset="0"/>
                                </a:rPr>
                              </m:ctrlPr>
                            </m:sSupPr>
                            <m:e>
                              <m:sSup>
                                <m:sSupPr>
                                  <m:ctrlPr>
                                    <a:rPr lang="fr-FR" sz="2000" b="1" i="1">
                                      <a:latin typeface="Cambria Math" panose="02040503050406030204" pitchFamily="18" charset="0"/>
                                    </a:rPr>
                                  </m:ctrlPr>
                                </m:sSupPr>
                                <m:e>
                                  <m:r>
                                    <a:rPr lang="fr-FR" sz="2000" b="1" i="1" smtClean="0">
                                      <a:latin typeface="Cambria Math" panose="02040503050406030204" pitchFamily="18" charset="0"/>
                                    </a:rPr>
                                    <m:t>𝑨</m:t>
                                  </m:r>
                                </m:e>
                                <m:sup>
                                  <m:d>
                                    <m:dPr>
                                      <m:ctrlPr>
                                        <a:rPr lang="fr-FR" sz="2000" i="1">
                                          <a:latin typeface="Cambria Math" panose="02040503050406030204" pitchFamily="18" charset="0"/>
                                        </a:rPr>
                                      </m:ctrlPr>
                                    </m:dPr>
                                    <m:e>
                                      <m:r>
                                        <a:rPr lang="fr-FR" sz="2000" i="1">
                                          <a:latin typeface="Cambria Math" panose="02040503050406030204" pitchFamily="18" charset="0"/>
                                        </a:rPr>
                                        <m:t>1</m:t>
                                      </m:r>
                                    </m:e>
                                  </m:d>
                                </m:sup>
                              </m:sSup>
                              <m:r>
                                <a:rPr lang="fr-FR" sz="2000" b="1" i="1">
                                  <a:latin typeface="Cambria Math" panose="02040503050406030204" pitchFamily="18" charset="0"/>
                                </a:rPr>
                                <m:t>=</m:t>
                              </m:r>
                              <m:r>
                                <a:rPr lang="fr-FR" sz="2000" b="1" i="1">
                                  <a:latin typeface="Cambria Math" panose="02040503050406030204" pitchFamily="18" charset="0"/>
                                </a:rPr>
                                <m:t>𝒉</m:t>
                              </m:r>
                            </m:e>
                            <m:sup>
                              <m:d>
                                <m:dPr>
                                  <m:ctrlPr>
                                    <a:rPr lang="fr-FR" sz="2000" i="1">
                                      <a:latin typeface="Cambria Math" panose="02040503050406030204" pitchFamily="18" charset="0"/>
                                    </a:rPr>
                                  </m:ctrlPr>
                                </m:dPr>
                                <m:e>
                                  <m:r>
                                    <a:rPr lang="fr-FR" sz="2000" i="1">
                                      <a:latin typeface="Cambria Math" panose="02040503050406030204" pitchFamily="18" charset="0"/>
                                    </a:rPr>
                                    <m:t>1</m:t>
                                  </m:r>
                                </m:e>
                              </m:d>
                            </m:sup>
                          </m:sSup>
                          <m:r>
                            <a:rPr lang="fr-FR" sz="2000" i="1">
                              <a:latin typeface="Cambria Math" panose="02040503050406030204" pitchFamily="18" charset="0"/>
                            </a:rPr>
                            <m:t>=</m:t>
                          </m:r>
                          <m:r>
                            <a:rPr lang="fr-FR" sz="2000" i="1">
                              <a:latin typeface="Cambria Math" panose="02040503050406030204" pitchFamily="18" charset="0"/>
                              <a:ea typeface="Cambria Math" panose="02040503050406030204" pitchFamily="18" charset="0"/>
                            </a:rPr>
                            <m:t>𝜙</m:t>
                          </m:r>
                          <m:d>
                            <m:dPr>
                              <m:ctrlPr>
                                <a:rPr lang="fr-FR" sz="2000" i="1">
                                  <a:latin typeface="Cambria Math" panose="02040503050406030204" pitchFamily="18" charset="0"/>
                                  <a:ea typeface="Cambria Math" panose="02040503050406030204" pitchFamily="18" charset="0"/>
                                </a:rPr>
                              </m:ctrlPr>
                            </m:dPr>
                            <m:e>
                              <m:sSup>
                                <m:sSupPr>
                                  <m:ctrlPr>
                                    <a:rPr lang="fr-FR" sz="2000" i="1">
                                      <a:latin typeface="Cambria Math" panose="02040503050406030204" pitchFamily="18" charset="0"/>
                                      <a:ea typeface="Cambria Math" panose="02040503050406030204" pitchFamily="18" charset="0"/>
                                    </a:rPr>
                                  </m:ctrlPr>
                                </m:sSupPr>
                                <m:e>
                                  <m:r>
                                    <a:rPr lang="fr-FR" sz="2000" b="1" i="1">
                                      <a:latin typeface="Cambria Math" panose="02040503050406030204" pitchFamily="18" charset="0"/>
                                      <a:ea typeface="Cambria Math" panose="02040503050406030204" pitchFamily="18" charset="0"/>
                                    </a:rPr>
                                    <m:t>𝑾</m:t>
                                  </m:r>
                                </m:e>
                                <m:sup>
                                  <m:r>
                                    <a:rPr lang="fr-FR" sz="2000" i="1">
                                      <a:latin typeface="Cambria Math" panose="02040503050406030204" pitchFamily="18" charset="0"/>
                                      <a:ea typeface="Cambria Math" panose="02040503050406030204" pitchFamily="18" charset="0"/>
                                    </a:rPr>
                                    <m:t>1</m:t>
                                  </m:r>
                                </m:sup>
                              </m:sSup>
                              <m:r>
                                <a:rPr lang="fr-FR" sz="2000" b="1" i="1">
                                  <a:latin typeface="Cambria Math" panose="02040503050406030204" pitchFamily="18" charset="0"/>
                                  <a:ea typeface="Cambria Math" panose="02040503050406030204" pitchFamily="18" charset="0"/>
                                </a:rPr>
                                <m:t>𝑿</m:t>
                              </m:r>
                              <m:r>
                                <a:rPr lang="fr-FR" sz="2000" i="1">
                                  <a:latin typeface="Cambria Math" panose="02040503050406030204" pitchFamily="18" charset="0"/>
                                  <a:ea typeface="Cambria Math" panose="02040503050406030204" pitchFamily="18" charset="0"/>
                                </a:rPr>
                                <m:t>+</m:t>
                              </m:r>
                              <m:sSup>
                                <m:sSupPr>
                                  <m:ctrlPr>
                                    <a:rPr lang="fr-FR" sz="2000" i="1">
                                      <a:latin typeface="Cambria Math" panose="02040503050406030204" pitchFamily="18" charset="0"/>
                                      <a:ea typeface="Cambria Math" panose="02040503050406030204" pitchFamily="18" charset="0"/>
                                    </a:rPr>
                                  </m:ctrlPr>
                                </m:sSupPr>
                                <m:e>
                                  <m:r>
                                    <a:rPr lang="fr-FR" sz="2000" b="1" i="1">
                                      <a:latin typeface="Cambria Math" panose="02040503050406030204" pitchFamily="18" charset="0"/>
                                      <a:ea typeface="Cambria Math" panose="02040503050406030204" pitchFamily="18" charset="0"/>
                                    </a:rPr>
                                    <m:t>𝒃</m:t>
                                  </m:r>
                                </m:e>
                                <m:sup>
                                  <m:r>
                                    <a:rPr lang="fr-FR" sz="2000" i="1">
                                      <a:latin typeface="Cambria Math" panose="02040503050406030204" pitchFamily="18" charset="0"/>
                                      <a:ea typeface="Cambria Math" panose="02040503050406030204" pitchFamily="18" charset="0"/>
                                    </a:rPr>
                                    <m:t>1</m:t>
                                  </m:r>
                                </m:sup>
                              </m:sSup>
                            </m:e>
                          </m:d>
                          <m:r>
                            <m:rPr>
                              <m:nor/>
                            </m:rPr>
                            <a:rPr lang="en-US" sz="2000" dirty="0"/>
                            <m:t> </m:t>
                          </m:r>
                        </m:num>
                        <m:den>
                          <m:eqArr>
                            <m:eqArrPr>
                              <m:ctrlPr>
                                <a:rPr lang="fr-FR" sz="2000" i="1">
                                  <a:latin typeface="Cambria Math" panose="02040503050406030204" pitchFamily="18" charset="0"/>
                                </a:rPr>
                              </m:ctrlPr>
                            </m:eqArrPr>
                            <m:e>
                              <m:sSup>
                                <m:sSupPr>
                                  <m:ctrlPr>
                                    <a:rPr lang="fr-FR" sz="2000" i="1">
                                      <a:latin typeface="Cambria Math" panose="02040503050406030204" pitchFamily="18" charset="0"/>
                                    </a:rPr>
                                  </m:ctrlPr>
                                </m:sSupPr>
                                <m:e>
                                  <m:sSup>
                                    <m:sSupPr>
                                      <m:ctrlPr>
                                        <a:rPr lang="fr-FR" sz="2000" b="1" i="1">
                                          <a:latin typeface="Cambria Math" panose="02040503050406030204" pitchFamily="18" charset="0"/>
                                        </a:rPr>
                                      </m:ctrlPr>
                                    </m:sSupPr>
                                    <m:e>
                                      <m:r>
                                        <a:rPr lang="fr-FR" sz="2000" b="1" i="1" smtClean="0">
                                          <a:latin typeface="Cambria Math" panose="02040503050406030204" pitchFamily="18" charset="0"/>
                                        </a:rPr>
                                        <m:t>𝑨</m:t>
                                      </m:r>
                                    </m:e>
                                    <m:sup>
                                      <m:d>
                                        <m:dPr>
                                          <m:ctrlPr>
                                            <a:rPr lang="fr-FR" sz="2000" i="1">
                                              <a:latin typeface="Cambria Math" panose="02040503050406030204" pitchFamily="18" charset="0"/>
                                            </a:rPr>
                                          </m:ctrlPr>
                                        </m:dPr>
                                        <m:e>
                                          <m:r>
                                            <a:rPr lang="fr-FR" sz="2000" b="0" i="1" smtClean="0">
                                              <a:latin typeface="Cambria Math" panose="02040503050406030204" pitchFamily="18" charset="0"/>
                                            </a:rPr>
                                            <m:t>𝑙</m:t>
                                          </m:r>
                                        </m:e>
                                      </m:d>
                                    </m:sup>
                                  </m:sSup>
                                  <m:r>
                                    <a:rPr lang="fr-FR" sz="2000" b="1" i="1">
                                      <a:latin typeface="Cambria Math" panose="02040503050406030204" pitchFamily="18" charset="0"/>
                                    </a:rPr>
                                    <m:t>=</m:t>
                                  </m:r>
                                  <m:r>
                                    <a:rPr lang="fr-FR" sz="2000" b="1" i="1">
                                      <a:latin typeface="Cambria Math" panose="02040503050406030204" pitchFamily="18" charset="0"/>
                                    </a:rPr>
                                    <m:t>𝒉</m:t>
                                  </m:r>
                                </m:e>
                                <m:sup>
                                  <m:d>
                                    <m:dPr>
                                      <m:ctrlPr>
                                        <a:rPr lang="fr-FR" sz="2000" i="1">
                                          <a:latin typeface="Cambria Math" panose="02040503050406030204" pitchFamily="18" charset="0"/>
                                        </a:rPr>
                                      </m:ctrlPr>
                                    </m:dPr>
                                    <m:e>
                                      <m:r>
                                        <a:rPr lang="fr-FR" sz="2000" b="0" i="1" smtClean="0">
                                          <a:latin typeface="Cambria Math" panose="02040503050406030204" pitchFamily="18" charset="0"/>
                                        </a:rPr>
                                        <m:t>𝑙</m:t>
                                      </m:r>
                                    </m:e>
                                  </m:d>
                                </m:sup>
                              </m:sSup>
                              <m:r>
                                <a:rPr lang="fr-FR" sz="2000" i="1">
                                  <a:latin typeface="Cambria Math" panose="02040503050406030204" pitchFamily="18" charset="0"/>
                                </a:rPr>
                                <m:t>=</m:t>
                              </m:r>
                              <m:r>
                                <a:rPr lang="fr-FR" sz="2000" i="1">
                                  <a:latin typeface="Cambria Math" panose="02040503050406030204" pitchFamily="18" charset="0"/>
                                  <a:ea typeface="Cambria Math" panose="02040503050406030204" pitchFamily="18" charset="0"/>
                                </a:rPr>
                                <m:t>𝜙</m:t>
                              </m:r>
                              <m:limUpp>
                                <m:limUppPr>
                                  <m:ctrlPr>
                                    <a:rPr lang="fr-FR" sz="2000" i="1" smtClean="0">
                                      <a:latin typeface="Cambria Math" panose="02040503050406030204" pitchFamily="18" charset="0"/>
                                      <a:ea typeface="Cambria Math" panose="02040503050406030204" pitchFamily="18" charset="0"/>
                                    </a:rPr>
                                  </m:ctrlPr>
                                </m:limUppPr>
                                <m:e>
                                  <m:groupChr>
                                    <m:groupChrPr>
                                      <m:chr m:val="⏞"/>
                                      <m:pos m:val="top"/>
                                      <m:vertJc m:val="bot"/>
                                      <m:ctrlPr>
                                        <a:rPr lang="fr-FR" sz="2000" i="1" smtClean="0">
                                          <a:latin typeface="Cambria Math" panose="02040503050406030204" pitchFamily="18" charset="0"/>
                                          <a:ea typeface="Cambria Math" panose="02040503050406030204" pitchFamily="18" charset="0"/>
                                        </a:rPr>
                                      </m:ctrlPr>
                                    </m:groupChrPr>
                                    <m:e>
                                      <m:d>
                                        <m:dPr>
                                          <m:ctrlPr>
                                            <a:rPr lang="fr-FR" sz="2000" i="1">
                                              <a:latin typeface="Cambria Math" panose="02040503050406030204" pitchFamily="18" charset="0"/>
                                              <a:ea typeface="Cambria Math" panose="02040503050406030204" pitchFamily="18" charset="0"/>
                                            </a:rPr>
                                          </m:ctrlPr>
                                        </m:dPr>
                                        <m:e>
                                          <m:sSup>
                                            <m:sSupPr>
                                              <m:ctrlPr>
                                                <a:rPr lang="fr-FR" sz="2000" i="1">
                                                  <a:latin typeface="Cambria Math" panose="02040503050406030204" pitchFamily="18" charset="0"/>
                                                  <a:ea typeface="Cambria Math" panose="02040503050406030204" pitchFamily="18" charset="0"/>
                                                </a:rPr>
                                              </m:ctrlPr>
                                            </m:sSupPr>
                                            <m:e>
                                              <m:r>
                                                <a:rPr lang="fr-FR" sz="2000" b="1" i="1">
                                                  <a:latin typeface="Cambria Math" panose="02040503050406030204" pitchFamily="18" charset="0"/>
                                                  <a:ea typeface="Cambria Math" panose="02040503050406030204" pitchFamily="18" charset="0"/>
                                                </a:rPr>
                                                <m:t>𝑾</m:t>
                                              </m:r>
                                            </m:e>
                                            <m:sup>
                                              <m:d>
                                                <m:dPr>
                                                  <m:ctrlPr>
                                                    <a:rPr lang="fr-FR" sz="2000" i="1">
                                                      <a:latin typeface="Cambria Math" panose="02040503050406030204" pitchFamily="18" charset="0"/>
                                                      <a:ea typeface="Cambria Math" panose="02040503050406030204" pitchFamily="18" charset="0"/>
                                                    </a:rPr>
                                                  </m:ctrlPr>
                                                </m:dPr>
                                                <m:e>
                                                  <m:r>
                                                    <a:rPr lang="fr-FR" sz="2000" i="1">
                                                      <a:latin typeface="Cambria Math" panose="02040503050406030204" pitchFamily="18" charset="0"/>
                                                      <a:ea typeface="Cambria Math" panose="02040503050406030204" pitchFamily="18" charset="0"/>
                                                    </a:rPr>
                                                    <m:t>𝑙</m:t>
                                                  </m:r>
                                                </m:e>
                                              </m:d>
                                            </m:sup>
                                          </m:sSup>
                                          <m:sSup>
                                            <m:sSupPr>
                                              <m:ctrlPr>
                                                <a:rPr lang="fr-FR" sz="2000" i="1">
                                                  <a:latin typeface="Cambria Math" panose="02040503050406030204" pitchFamily="18" charset="0"/>
                                                  <a:ea typeface="Cambria Math" panose="02040503050406030204" pitchFamily="18" charset="0"/>
                                                </a:rPr>
                                              </m:ctrlPr>
                                            </m:sSupPr>
                                            <m:e>
                                              <m:r>
                                                <a:rPr lang="fr-FR" sz="2000" b="1" i="1">
                                                  <a:latin typeface="Cambria Math" panose="02040503050406030204" pitchFamily="18" charset="0"/>
                                                  <a:ea typeface="Cambria Math" panose="02040503050406030204" pitchFamily="18" charset="0"/>
                                                </a:rPr>
                                                <m:t>𝑨</m:t>
                                              </m:r>
                                            </m:e>
                                            <m:sup>
                                              <m:d>
                                                <m:dPr>
                                                  <m:ctrlPr>
                                                    <a:rPr lang="fr-FR" sz="2000" i="1">
                                                      <a:latin typeface="Cambria Math" panose="02040503050406030204" pitchFamily="18" charset="0"/>
                                                      <a:ea typeface="Cambria Math" panose="02040503050406030204" pitchFamily="18" charset="0"/>
                                                    </a:rPr>
                                                  </m:ctrlPr>
                                                </m:dPr>
                                                <m:e>
                                                  <m:r>
                                                    <a:rPr lang="fr-FR" sz="2000" i="1">
                                                      <a:latin typeface="Cambria Math" panose="02040503050406030204" pitchFamily="18" charset="0"/>
                                                      <a:ea typeface="Cambria Math" panose="02040503050406030204" pitchFamily="18" charset="0"/>
                                                    </a:rPr>
                                                    <m:t>𝑙</m:t>
                                                  </m:r>
                                                  <m:r>
                                                    <a:rPr lang="fr-FR" sz="2000" i="1">
                                                      <a:latin typeface="Cambria Math" panose="02040503050406030204" pitchFamily="18" charset="0"/>
                                                      <a:ea typeface="Cambria Math" panose="02040503050406030204" pitchFamily="18" charset="0"/>
                                                    </a:rPr>
                                                    <m:t>−1</m:t>
                                                  </m:r>
                                                </m:e>
                                              </m:d>
                                            </m:sup>
                                          </m:sSup>
                                          <m:r>
                                            <a:rPr lang="fr-FR" sz="2000" i="1">
                                              <a:latin typeface="Cambria Math" panose="02040503050406030204" pitchFamily="18" charset="0"/>
                                              <a:ea typeface="Cambria Math" panose="02040503050406030204" pitchFamily="18" charset="0"/>
                                            </a:rPr>
                                            <m:t>+</m:t>
                                          </m:r>
                                          <m:sSup>
                                            <m:sSupPr>
                                              <m:ctrlPr>
                                                <a:rPr lang="fr-FR" sz="2000" i="1">
                                                  <a:latin typeface="Cambria Math" panose="02040503050406030204" pitchFamily="18" charset="0"/>
                                                  <a:ea typeface="Cambria Math" panose="02040503050406030204" pitchFamily="18" charset="0"/>
                                                </a:rPr>
                                              </m:ctrlPr>
                                            </m:sSupPr>
                                            <m:e>
                                              <m:r>
                                                <a:rPr lang="fr-FR" sz="2000" b="1" i="1">
                                                  <a:latin typeface="Cambria Math" panose="02040503050406030204" pitchFamily="18" charset="0"/>
                                                  <a:ea typeface="Cambria Math" panose="02040503050406030204" pitchFamily="18" charset="0"/>
                                                </a:rPr>
                                                <m:t>𝒃</m:t>
                                              </m:r>
                                            </m:e>
                                            <m:sup>
                                              <m:d>
                                                <m:dPr>
                                                  <m:ctrlPr>
                                                    <a:rPr lang="fr-FR" sz="2000" i="1">
                                                      <a:latin typeface="Cambria Math" panose="02040503050406030204" pitchFamily="18" charset="0"/>
                                                      <a:ea typeface="Cambria Math" panose="02040503050406030204" pitchFamily="18" charset="0"/>
                                                    </a:rPr>
                                                  </m:ctrlPr>
                                                </m:dPr>
                                                <m:e>
                                                  <m:r>
                                                    <a:rPr lang="fr-FR" sz="2000" i="1">
                                                      <a:latin typeface="Cambria Math" panose="02040503050406030204" pitchFamily="18" charset="0"/>
                                                      <a:ea typeface="Cambria Math" panose="02040503050406030204" pitchFamily="18" charset="0"/>
                                                    </a:rPr>
                                                    <m:t>𝑙</m:t>
                                                  </m:r>
                                                </m:e>
                                              </m:d>
                                            </m:sup>
                                          </m:sSup>
                                        </m:e>
                                      </m:d>
                                    </m:e>
                                  </m:groupChr>
                                </m:e>
                                <m:lim>
                                  <m:sSup>
                                    <m:sSupPr>
                                      <m:ctrlPr>
                                        <a:rPr lang="fr-FR" sz="2000" b="0" i="1" smtClean="0">
                                          <a:latin typeface="Cambria Math" panose="02040503050406030204" pitchFamily="18" charset="0"/>
                                          <a:ea typeface="Cambria Math" panose="02040503050406030204" pitchFamily="18" charset="0"/>
                                        </a:rPr>
                                      </m:ctrlPr>
                                    </m:sSupPr>
                                    <m:e>
                                      <m:r>
                                        <a:rPr lang="fr-FR" sz="2000" b="1" i="1" smtClean="0">
                                          <a:latin typeface="Cambria Math" panose="02040503050406030204" pitchFamily="18" charset="0"/>
                                          <a:ea typeface="Cambria Math" panose="02040503050406030204" pitchFamily="18" charset="0"/>
                                        </a:rPr>
                                        <m:t>𝒁</m:t>
                                      </m:r>
                                    </m:e>
                                    <m:sup>
                                      <m:r>
                                        <a:rPr lang="fr-FR" sz="2000" b="0" i="1" smtClean="0">
                                          <a:latin typeface="Cambria Math" panose="02040503050406030204" pitchFamily="18" charset="0"/>
                                          <a:ea typeface="Cambria Math" panose="02040503050406030204" pitchFamily="18" charset="0"/>
                                        </a:rPr>
                                        <m:t>𝑙</m:t>
                                      </m:r>
                                    </m:sup>
                                  </m:sSup>
                                </m:lim>
                              </m:limUpp>
                              <m:r>
                                <a:rPr lang="fr-FR" sz="2000" b="0" i="1" smtClean="0">
                                  <a:latin typeface="Cambria Math" panose="02040503050406030204" pitchFamily="18" charset="0"/>
                                  <a:ea typeface="Cambria Math" panose="02040503050406030204" pitchFamily="18" charset="0"/>
                                </a:rPr>
                                <m:t>  ∀ </m:t>
                              </m:r>
                              <m:r>
                                <a:rPr lang="fr-FR" sz="2000" b="0" i="1" smtClean="0">
                                  <a:latin typeface="Cambria Math" panose="02040503050406030204" pitchFamily="18" charset="0"/>
                                  <a:ea typeface="Cambria Math" panose="02040503050406030204" pitchFamily="18" charset="0"/>
                                </a:rPr>
                                <m:t>𝑙</m:t>
                              </m:r>
                              <m:r>
                                <a:rPr lang="fr-FR" sz="2000" b="0" i="1" smtClean="0">
                                  <a:latin typeface="Cambria Math" panose="02040503050406030204" pitchFamily="18" charset="0"/>
                                  <a:ea typeface="Cambria Math" panose="02040503050406030204" pitchFamily="18" charset="0"/>
                                </a:rPr>
                                <m:t>∈</m:t>
                              </m:r>
                              <m:d>
                                <m:dPr>
                                  <m:begChr m:val="{"/>
                                  <m:endChr m:val="}"/>
                                  <m:ctrlPr>
                                    <a:rPr lang="fr-FR" sz="2000" b="0" i="1" smtClean="0">
                                      <a:latin typeface="Cambria Math" panose="02040503050406030204" pitchFamily="18" charset="0"/>
                                      <a:ea typeface="Cambria Math" panose="02040503050406030204" pitchFamily="18" charset="0"/>
                                    </a:rPr>
                                  </m:ctrlPr>
                                </m:dPr>
                                <m:e>
                                  <m:r>
                                    <a:rPr lang="fr-FR" sz="2000" b="0" i="1" smtClean="0">
                                      <a:latin typeface="Cambria Math" panose="02040503050406030204" pitchFamily="18" charset="0"/>
                                      <a:ea typeface="Cambria Math" panose="02040503050406030204" pitchFamily="18" charset="0"/>
                                    </a:rPr>
                                    <m:t>2,…,</m:t>
                                  </m:r>
                                  <m:r>
                                    <a:rPr lang="fr-FR" sz="2000" b="0" i="1" smtClean="0">
                                      <a:latin typeface="Cambria Math" panose="02040503050406030204" pitchFamily="18" charset="0"/>
                                      <a:ea typeface="Cambria Math" panose="02040503050406030204" pitchFamily="18" charset="0"/>
                                    </a:rPr>
                                    <m:t>𝐿</m:t>
                                  </m:r>
                                </m:e>
                              </m:d>
                            </m:e>
                            <m:e>
                              <m:acc>
                                <m:accPr>
                                  <m:chr m:val="̂"/>
                                  <m:ctrlPr>
                                    <a:rPr lang="fr-FR" sz="2000" b="1" i="1" smtClean="0">
                                      <a:latin typeface="Cambria Math" panose="02040503050406030204" pitchFamily="18" charset="0"/>
                                      <a:ea typeface="Cambria Math" panose="02040503050406030204" pitchFamily="18" charset="0"/>
                                    </a:rPr>
                                  </m:ctrlPr>
                                </m:accPr>
                                <m:e>
                                  <m:r>
                                    <a:rPr lang="fr-FR" sz="2000" b="1" i="1" smtClean="0">
                                      <a:latin typeface="Cambria Math" panose="02040503050406030204" pitchFamily="18" charset="0"/>
                                      <a:ea typeface="Cambria Math" panose="02040503050406030204" pitchFamily="18" charset="0"/>
                                    </a:rPr>
                                    <m:t>𝒀</m:t>
                                  </m:r>
                                </m:e>
                              </m:acc>
                              <m:r>
                                <a:rPr lang="fr-FR" sz="2000" b="0" i="1" smtClean="0">
                                  <a:latin typeface="Cambria Math" panose="02040503050406030204" pitchFamily="18" charset="0"/>
                                </a:rPr>
                                <m:t>=</m:t>
                              </m:r>
                              <m:sSup>
                                <m:sSupPr>
                                  <m:ctrlPr>
                                    <a:rPr lang="fr-FR" sz="2000" b="0" i="1" smtClean="0">
                                      <a:latin typeface="Cambria Math" panose="02040503050406030204" pitchFamily="18" charset="0"/>
                                      <a:ea typeface="Cambria Math" panose="02040503050406030204" pitchFamily="18" charset="0"/>
                                    </a:rPr>
                                  </m:ctrlPr>
                                </m:sSupPr>
                                <m:e>
                                  <m:r>
                                    <a:rPr lang="fr-FR" sz="2000" b="1" i="1" smtClean="0">
                                      <a:latin typeface="Cambria Math" panose="02040503050406030204" pitchFamily="18" charset="0"/>
                                      <a:ea typeface="Cambria Math" panose="02040503050406030204" pitchFamily="18" charset="0"/>
                                    </a:rPr>
                                    <m:t>𝑨</m:t>
                                  </m:r>
                                </m:e>
                                <m:sup>
                                  <m:r>
                                    <a:rPr lang="fr-FR" sz="2000" b="0" i="1" smtClean="0">
                                      <a:latin typeface="Cambria Math" panose="02040503050406030204" pitchFamily="18" charset="0"/>
                                      <a:ea typeface="Cambria Math" panose="02040503050406030204" pitchFamily="18" charset="0"/>
                                    </a:rPr>
                                    <m:t>𝐿</m:t>
                                  </m:r>
                                </m:sup>
                              </m:sSup>
                              <m:r>
                                <a:rPr lang="fr-FR" sz="2000" b="0" i="1" smtClean="0">
                                  <a:latin typeface="Cambria Math" panose="02040503050406030204" pitchFamily="18" charset="0"/>
                                  <a:ea typeface="Cambria Math" panose="02040503050406030204" pitchFamily="18" charset="0"/>
                                </a:rPr>
                                <m:t>=</m:t>
                              </m:r>
                              <m:r>
                                <a:rPr lang="fr-FR" sz="2000" i="1">
                                  <a:latin typeface="Cambria Math" panose="02040503050406030204" pitchFamily="18" charset="0"/>
                                  <a:ea typeface="Cambria Math" panose="02040503050406030204" pitchFamily="18" charset="0"/>
                                </a:rPr>
                                <m:t>𝜙</m:t>
                              </m:r>
                              <m:d>
                                <m:dPr>
                                  <m:ctrlPr>
                                    <a:rPr lang="fr-FR" sz="2000" i="1">
                                      <a:latin typeface="Cambria Math" panose="02040503050406030204" pitchFamily="18" charset="0"/>
                                      <a:ea typeface="Cambria Math" panose="02040503050406030204" pitchFamily="18" charset="0"/>
                                    </a:rPr>
                                  </m:ctrlPr>
                                </m:dPr>
                                <m:e>
                                  <m:sSup>
                                    <m:sSupPr>
                                      <m:ctrlPr>
                                        <a:rPr lang="fr-FR" sz="2000" i="1">
                                          <a:latin typeface="Cambria Math" panose="02040503050406030204" pitchFamily="18" charset="0"/>
                                          <a:ea typeface="Cambria Math" panose="02040503050406030204" pitchFamily="18" charset="0"/>
                                        </a:rPr>
                                      </m:ctrlPr>
                                    </m:sSupPr>
                                    <m:e>
                                      <m:r>
                                        <a:rPr lang="fr-FR" sz="2000" b="1" i="1">
                                          <a:latin typeface="Cambria Math" panose="02040503050406030204" pitchFamily="18" charset="0"/>
                                          <a:ea typeface="Cambria Math" panose="02040503050406030204" pitchFamily="18" charset="0"/>
                                        </a:rPr>
                                        <m:t>𝑾</m:t>
                                      </m:r>
                                    </m:e>
                                    <m:sup>
                                      <m:r>
                                        <a:rPr lang="fr-FR" sz="2000" b="0" i="1" smtClean="0">
                                          <a:latin typeface="Cambria Math" panose="02040503050406030204" pitchFamily="18" charset="0"/>
                                          <a:ea typeface="Cambria Math" panose="02040503050406030204" pitchFamily="18" charset="0"/>
                                        </a:rPr>
                                        <m:t>𝐿</m:t>
                                      </m:r>
                                    </m:sup>
                                  </m:sSup>
                                  <m:sSup>
                                    <m:sSupPr>
                                      <m:ctrlPr>
                                        <a:rPr lang="fr-FR" sz="2000" b="0" i="1" smtClean="0">
                                          <a:latin typeface="Cambria Math" panose="02040503050406030204" pitchFamily="18" charset="0"/>
                                          <a:ea typeface="Cambria Math" panose="02040503050406030204" pitchFamily="18" charset="0"/>
                                        </a:rPr>
                                      </m:ctrlPr>
                                    </m:sSupPr>
                                    <m:e>
                                      <m:r>
                                        <a:rPr lang="fr-FR" sz="2000" b="1" i="1" smtClean="0">
                                          <a:latin typeface="Cambria Math" panose="02040503050406030204" pitchFamily="18" charset="0"/>
                                          <a:ea typeface="Cambria Math" panose="02040503050406030204" pitchFamily="18" charset="0"/>
                                        </a:rPr>
                                        <m:t>𝑨</m:t>
                                      </m:r>
                                    </m:e>
                                    <m:sup>
                                      <m:r>
                                        <a:rPr lang="fr-FR" sz="2000" b="0" i="1" smtClean="0">
                                          <a:latin typeface="Cambria Math" panose="02040503050406030204" pitchFamily="18" charset="0"/>
                                          <a:ea typeface="Cambria Math" panose="02040503050406030204" pitchFamily="18" charset="0"/>
                                        </a:rPr>
                                        <m:t>𝐿</m:t>
                                      </m:r>
                                      <m:r>
                                        <a:rPr lang="fr-FR" sz="2000" b="0" i="1" smtClean="0">
                                          <a:latin typeface="Cambria Math" panose="02040503050406030204" pitchFamily="18" charset="0"/>
                                          <a:ea typeface="Cambria Math" panose="02040503050406030204" pitchFamily="18" charset="0"/>
                                        </a:rPr>
                                        <m:t>−1</m:t>
                                      </m:r>
                                    </m:sup>
                                  </m:sSup>
                                  <m:r>
                                    <a:rPr lang="fr-FR" sz="2000" i="1">
                                      <a:latin typeface="Cambria Math" panose="02040503050406030204" pitchFamily="18" charset="0"/>
                                      <a:ea typeface="Cambria Math" panose="02040503050406030204" pitchFamily="18" charset="0"/>
                                    </a:rPr>
                                    <m:t>+</m:t>
                                  </m:r>
                                  <m:sSup>
                                    <m:sSupPr>
                                      <m:ctrlPr>
                                        <a:rPr lang="fr-FR" sz="2000" i="1">
                                          <a:latin typeface="Cambria Math" panose="02040503050406030204" pitchFamily="18" charset="0"/>
                                          <a:ea typeface="Cambria Math" panose="02040503050406030204" pitchFamily="18" charset="0"/>
                                        </a:rPr>
                                      </m:ctrlPr>
                                    </m:sSupPr>
                                    <m:e>
                                      <m:r>
                                        <a:rPr lang="fr-FR" sz="2000" b="1" i="1">
                                          <a:latin typeface="Cambria Math" panose="02040503050406030204" pitchFamily="18" charset="0"/>
                                          <a:ea typeface="Cambria Math" panose="02040503050406030204" pitchFamily="18" charset="0"/>
                                        </a:rPr>
                                        <m:t>𝒃</m:t>
                                      </m:r>
                                    </m:e>
                                    <m:sup>
                                      <m:r>
                                        <a:rPr lang="fr-FR" sz="2000" b="0" i="1" smtClean="0">
                                          <a:latin typeface="Cambria Math" panose="02040503050406030204" pitchFamily="18" charset="0"/>
                                          <a:ea typeface="Cambria Math" panose="02040503050406030204" pitchFamily="18" charset="0"/>
                                        </a:rPr>
                                        <m:t>𝐿</m:t>
                                      </m:r>
                                    </m:sup>
                                  </m:sSup>
                                </m:e>
                              </m:d>
                            </m:e>
                          </m:eqArr>
                        </m:den>
                      </m:f>
                    </m:oMath>
                  </m:oMathPara>
                </a14:m>
                <a:endParaRPr lang="en-US" dirty="0"/>
              </a:p>
            </p:txBody>
          </p:sp>
        </mc:Choice>
        <mc:Fallback>
          <p:sp>
            <p:nvSpPr>
              <p:cNvPr id="17" name="ZoneTexte 16">
                <a:extLst>
                  <a:ext uri="{FF2B5EF4-FFF2-40B4-BE49-F238E27FC236}">
                    <a16:creationId xmlns:a16="http://schemas.microsoft.com/office/drawing/2014/main" id="{F6F14F3D-FE12-0A30-F597-0D958F4157F6}"/>
                  </a:ext>
                </a:extLst>
              </p:cNvPr>
              <p:cNvSpPr txBox="1">
                <a:spLocks noRot="1" noChangeAspect="1" noMove="1" noResize="1" noEditPoints="1" noAdjustHandles="1" noChangeArrowheads="1" noChangeShapeType="1" noTextEdit="1"/>
              </p:cNvSpPr>
              <p:nvPr/>
            </p:nvSpPr>
            <p:spPr>
              <a:xfrm>
                <a:off x="6581085" y="1778977"/>
                <a:ext cx="5507341" cy="140038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ZoneTexte 17">
                <a:extLst>
                  <a:ext uri="{FF2B5EF4-FFF2-40B4-BE49-F238E27FC236}">
                    <a16:creationId xmlns:a16="http://schemas.microsoft.com/office/drawing/2014/main" id="{2E3FFA9E-512C-C774-7D26-BF86CE44A44F}"/>
                  </a:ext>
                </a:extLst>
              </p:cNvPr>
              <p:cNvSpPr txBox="1"/>
              <p:nvPr/>
            </p:nvSpPr>
            <p:spPr>
              <a:xfrm>
                <a:off x="7197686" y="3654892"/>
                <a:ext cx="4344074" cy="34740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acc>
                        <m:accPr>
                          <m:chr m:val="̂"/>
                          <m:ctrlPr>
                            <a:rPr lang="en-US" sz="2000" b="1" i="1" smtClean="0">
                              <a:latin typeface="Cambria Math" panose="02040503050406030204" pitchFamily="18" charset="0"/>
                            </a:rPr>
                          </m:ctrlPr>
                        </m:accPr>
                        <m:e>
                          <m:r>
                            <a:rPr lang="fr-FR" sz="2000" b="1" i="1" smtClean="0">
                              <a:latin typeface="Cambria Math" panose="02040503050406030204" pitchFamily="18" charset="0"/>
                            </a:rPr>
                            <m:t>𝒚</m:t>
                          </m:r>
                        </m:e>
                      </m:acc>
                      <m:r>
                        <a:rPr lang="fr-FR" sz="2000" b="0" i="1" smtClean="0">
                          <a:latin typeface="Cambria Math" panose="02040503050406030204" pitchFamily="18" charset="0"/>
                        </a:rPr>
                        <m:t>=</m:t>
                      </m:r>
                      <m:r>
                        <a:rPr lang="fr-FR" sz="2000" b="0" i="1" smtClean="0">
                          <a:latin typeface="Cambria Math" panose="02040503050406030204" pitchFamily="18" charset="0"/>
                        </a:rPr>
                        <m:t>𝑓</m:t>
                      </m:r>
                      <m:d>
                        <m:dPr>
                          <m:ctrlPr>
                            <a:rPr lang="fr-FR" sz="2000" b="0" i="1" smtClean="0">
                              <a:latin typeface="Cambria Math" panose="02040503050406030204" pitchFamily="18" charset="0"/>
                            </a:rPr>
                          </m:ctrlPr>
                        </m:dPr>
                        <m:e>
                          <m:r>
                            <a:rPr lang="fr-FR" sz="2000" b="1" i="1" smtClean="0">
                              <a:latin typeface="Cambria Math" panose="02040503050406030204" pitchFamily="18" charset="0"/>
                            </a:rPr>
                            <m:t>𝑿</m:t>
                          </m:r>
                          <m:r>
                            <a:rPr lang="fr-FR" sz="2000" b="0" i="1" smtClean="0">
                              <a:latin typeface="Cambria Math" panose="02040503050406030204" pitchFamily="18" charset="0"/>
                            </a:rPr>
                            <m:t>,</m:t>
                          </m:r>
                          <m:r>
                            <a:rPr lang="fr-FR" sz="2000" b="1" i="1" smtClean="0">
                              <a:latin typeface="Cambria Math" panose="02040503050406030204" pitchFamily="18" charset="0"/>
                            </a:rPr>
                            <m:t>𝑾</m:t>
                          </m:r>
                        </m:e>
                      </m:d>
                      <m:r>
                        <a:rPr lang="fr-FR" sz="2000" b="0" i="1" smtClean="0">
                          <a:latin typeface="Cambria Math" panose="02040503050406030204" pitchFamily="18" charset="0"/>
                        </a:rPr>
                        <m:t>=</m:t>
                      </m:r>
                      <m:d>
                        <m:dPr>
                          <m:ctrlPr>
                            <a:rPr lang="fr-FR" sz="2000" b="0" i="1" smtClean="0">
                              <a:latin typeface="Cambria Math" panose="02040503050406030204" pitchFamily="18" charset="0"/>
                            </a:rPr>
                          </m:ctrlPr>
                        </m:dPr>
                        <m:e>
                          <m:sSup>
                            <m:sSupPr>
                              <m:ctrlPr>
                                <a:rPr lang="fr-FR" sz="2000" b="0" i="1" smtClean="0">
                                  <a:latin typeface="Cambria Math" panose="02040503050406030204" pitchFamily="18" charset="0"/>
                                </a:rPr>
                              </m:ctrlPr>
                            </m:sSupPr>
                            <m:e>
                              <m:r>
                                <a:rPr lang="fr-FR" sz="2000" b="0" i="1" smtClean="0">
                                  <a:latin typeface="Cambria Math" panose="02040503050406030204" pitchFamily="18" charset="0"/>
                                </a:rPr>
                                <m:t>𝑓</m:t>
                              </m:r>
                            </m:e>
                            <m:sup>
                              <m:r>
                                <a:rPr lang="fr-FR" sz="2000" b="0" i="1" smtClean="0">
                                  <a:latin typeface="Cambria Math" panose="02040503050406030204" pitchFamily="18" charset="0"/>
                                </a:rPr>
                                <m:t>𝐿</m:t>
                              </m:r>
                            </m:sup>
                          </m:sSup>
                          <m:r>
                            <a:rPr lang="fr-FR" sz="2000" b="0" i="1" smtClean="0">
                              <a:latin typeface="Cambria Math" panose="02040503050406030204" pitchFamily="18" charset="0"/>
                              <a:ea typeface="Cambria Math" panose="02040503050406030204" pitchFamily="18" charset="0"/>
                            </a:rPr>
                            <m:t>∘</m:t>
                          </m:r>
                          <m:sSup>
                            <m:sSupPr>
                              <m:ctrlPr>
                                <a:rPr lang="fr-FR" sz="2000" b="0" i="1" smtClean="0">
                                  <a:latin typeface="Cambria Math" panose="02040503050406030204" pitchFamily="18" charset="0"/>
                                  <a:ea typeface="Cambria Math" panose="02040503050406030204" pitchFamily="18" charset="0"/>
                                </a:rPr>
                              </m:ctrlPr>
                            </m:sSupPr>
                            <m:e>
                              <m:r>
                                <a:rPr lang="fr-FR" sz="2000" b="0" i="1" smtClean="0">
                                  <a:latin typeface="Cambria Math" panose="02040503050406030204" pitchFamily="18" charset="0"/>
                                  <a:ea typeface="Cambria Math" panose="02040503050406030204" pitchFamily="18" charset="0"/>
                                </a:rPr>
                                <m:t>𝑓</m:t>
                              </m:r>
                            </m:e>
                            <m:sup>
                              <m:r>
                                <a:rPr lang="fr-FR" sz="2000" b="0" i="1" smtClean="0">
                                  <a:latin typeface="Cambria Math" panose="02040503050406030204" pitchFamily="18" charset="0"/>
                                  <a:ea typeface="Cambria Math" panose="02040503050406030204" pitchFamily="18" charset="0"/>
                                </a:rPr>
                                <m:t>𝐿</m:t>
                              </m:r>
                              <m:r>
                                <a:rPr lang="fr-FR" sz="2000" b="0" i="1" smtClean="0">
                                  <a:latin typeface="Cambria Math" panose="02040503050406030204" pitchFamily="18" charset="0"/>
                                  <a:ea typeface="Cambria Math" panose="02040503050406030204" pitchFamily="18" charset="0"/>
                                </a:rPr>
                                <m:t>−1</m:t>
                              </m:r>
                            </m:sup>
                          </m:sSup>
                          <m:r>
                            <a:rPr lang="fr-FR" sz="2000" i="1">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m:t>
                          </m:r>
                          <m:r>
                            <a:rPr lang="fr-FR" sz="2000" i="1">
                              <a:latin typeface="Cambria Math" panose="02040503050406030204" pitchFamily="18" charset="0"/>
                              <a:ea typeface="Cambria Math" panose="02040503050406030204" pitchFamily="18" charset="0"/>
                            </a:rPr>
                            <m:t>∘</m:t>
                          </m:r>
                          <m:sSup>
                            <m:sSupPr>
                              <m:ctrlPr>
                                <a:rPr lang="fr-FR" sz="2000" b="0" i="1" smtClean="0">
                                  <a:latin typeface="Cambria Math" panose="02040503050406030204" pitchFamily="18" charset="0"/>
                                  <a:ea typeface="Cambria Math" panose="02040503050406030204" pitchFamily="18" charset="0"/>
                                </a:rPr>
                              </m:ctrlPr>
                            </m:sSupPr>
                            <m:e>
                              <m:r>
                                <a:rPr lang="fr-FR" sz="2000" b="0" i="1" smtClean="0">
                                  <a:latin typeface="Cambria Math" panose="02040503050406030204" pitchFamily="18" charset="0"/>
                                  <a:ea typeface="Cambria Math" panose="02040503050406030204" pitchFamily="18" charset="0"/>
                                </a:rPr>
                                <m:t>𝑓</m:t>
                              </m:r>
                            </m:e>
                            <m:sup>
                              <m:r>
                                <a:rPr lang="fr-FR" sz="2000" b="0" i="1" smtClean="0">
                                  <a:latin typeface="Cambria Math" panose="02040503050406030204" pitchFamily="18" charset="0"/>
                                  <a:ea typeface="Cambria Math" panose="02040503050406030204" pitchFamily="18" charset="0"/>
                                </a:rPr>
                                <m:t>1</m:t>
                              </m:r>
                            </m:sup>
                          </m:sSup>
                        </m:e>
                      </m:d>
                      <m:d>
                        <m:dPr>
                          <m:ctrlPr>
                            <a:rPr lang="fr-FR" sz="2000" b="0" i="1" smtClean="0">
                              <a:latin typeface="Cambria Math" panose="02040503050406030204" pitchFamily="18" charset="0"/>
                              <a:ea typeface="Cambria Math" panose="02040503050406030204" pitchFamily="18" charset="0"/>
                            </a:rPr>
                          </m:ctrlPr>
                        </m:dPr>
                        <m:e>
                          <m:r>
                            <a:rPr lang="fr-FR" sz="2000" b="1" i="1" smtClean="0">
                              <a:latin typeface="Cambria Math" panose="02040503050406030204" pitchFamily="18" charset="0"/>
                            </a:rPr>
                            <m:t>𝑿</m:t>
                          </m:r>
                        </m:e>
                      </m:d>
                    </m:oMath>
                  </m:oMathPara>
                </a14:m>
                <a:endParaRPr lang="en-US" sz="2000" dirty="0"/>
              </a:p>
            </p:txBody>
          </p:sp>
        </mc:Choice>
        <mc:Fallback>
          <p:sp>
            <p:nvSpPr>
              <p:cNvPr id="18" name="ZoneTexte 17">
                <a:extLst>
                  <a:ext uri="{FF2B5EF4-FFF2-40B4-BE49-F238E27FC236}">
                    <a16:creationId xmlns:a16="http://schemas.microsoft.com/office/drawing/2014/main" id="{2E3FFA9E-512C-C774-7D26-BF86CE44A44F}"/>
                  </a:ext>
                </a:extLst>
              </p:cNvPr>
              <p:cNvSpPr txBox="1">
                <a:spLocks noRot="1" noChangeAspect="1" noMove="1" noResize="1" noEditPoints="1" noAdjustHandles="1" noChangeArrowheads="1" noChangeShapeType="1" noTextEdit="1"/>
              </p:cNvSpPr>
              <p:nvPr/>
            </p:nvSpPr>
            <p:spPr>
              <a:xfrm>
                <a:off x="7197686" y="3654892"/>
                <a:ext cx="4344074" cy="347403"/>
              </a:xfrm>
              <a:prstGeom prst="rect">
                <a:avLst/>
              </a:prstGeom>
              <a:blipFill>
                <a:blip r:embed="rId7"/>
                <a:stretch>
                  <a:fillRect l="-1264" t="-15789" b="-2456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ZoneTexte 19">
                <a:extLst>
                  <a:ext uri="{FF2B5EF4-FFF2-40B4-BE49-F238E27FC236}">
                    <a16:creationId xmlns:a16="http://schemas.microsoft.com/office/drawing/2014/main" id="{B0B55595-6834-BF3D-8263-46E546222417}"/>
                  </a:ext>
                </a:extLst>
              </p:cNvPr>
              <p:cNvSpPr txBox="1"/>
              <p:nvPr/>
            </p:nvSpPr>
            <p:spPr>
              <a:xfrm>
                <a:off x="8503814" y="4050829"/>
                <a:ext cx="2457981" cy="3077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fr-FR" sz="2000" b="0" i="1" smtClean="0">
                          <a:latin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𝜙</m:t>
                      </m:r>
                      <m:d>
                        <m:dPr>
                          <m:begChr m:val="{"/>
                          <m:endChr m:val="}"/>
                          <m:ctrlPr>
                            <a:rPr lang="fr-FR" sz="2000" b="0" i="1" smtClean="0">
                              <a:latin typeface="Cambria Math" panose="02040503050406030204" pitchFamily="18" charset="0"/>
                              <a:ea typeface="Cambria Math" panose="02040503050406030204" pitchFamily="18" charset="0"/>
                            </a:rPr>
                          </m:ctrlPr>
                        </m:dPr>
                        <m:e>
                          <m:sSup>
                            <m:sSupPr>
                              <m:ctrlPr>
                                <a:rPr lang="fr-FR" sz="2000" i="1">
                                  <a:latin typeface="Cambria Math" panose="02040503050406030204" pitchFamily="18" charset="0"/>
                                  <a:ea typeface="Cambria Math" panose="02040503050406030204" pitchFamily="18" charset="0"/>
                                </a:rPr>
                              </m:ctrlPr>
                            </m:sSupPr>
                            <m:e>
                              <m:r>
                                <a:rPr lang="fr-FR" sz="2000" b="1" i="1">
                                  <a:latin typeface="Cambria Math" panose="02040503050406030204" pitchFamily="18" charset="0"/>
                                  <a:ea typeface="Cambria Math" panose="02040503050406030204" pitchFamily="18" charset="0"/>
                                </a:rPr>
                                <m:t>𝑾</m:t>
                              </m:r>
                            </m:e>
                            <m:sup>
                              <m:r>
                                <a:rPr lang="fr-FR" sz="2000" i="1">
                                  <a:latin typeface="Cambria Math" panose="02040503050406030204" pitchFamily="18" charset="0"/>
                                  <a:ea typeface="Cambria Math" panose="02040503050406030204" pitchFamily="18" charset="0"/>
                                </a:rPr>
                                <m:t>𝐿</m:t>
                              </m:r>
                            </m:sup>
                          </m:sSup>
                          <m:d>
                            <m:dPr>
                              <m:begChr m:val="["/>
                              <m:endChr m:val="]"/>
                              <m:ctrlPr>
                                <a:rPr lang="fr-FR" sz="2000" b="0" i="1" smtClean="0">
                                  <a:latin typeface="Cambria Math" panose="02040503050406030204" pitchFamily="18" charset="0"/>
                                  <a:ea typeface="Cambria Math" panose="02040503050406030204" pitchFamily="18" charset="0"/>
                                </a:rPr>
                              </m:ctrlPr>
                            </m:dPr>
                            <m:e>
                              <m:r>
                                <a:rPr lang="fr-FR" sz="2000" i="1">
                                  <a:latin typeface="Cambria Math" panose="02040503050406030204" pitchFamily="18" charset="0"/>
                                  <a:ea typeface="Cambria Math" panose="02040503050406030204" pitchFamily="18" charset="0"/>
                                </a:rPr>
                                <m:t>𝜙</m:t>
                              </m:r>
                              <m:d>
                                <m:dPr>
                                  <m:ctrlPr>
                                    <a:rPr lang="fr-FR" sz="2000" b="0" i="1" smtClean="0">
                                      <a:latin typeface="Cambria Math" panose="02040503050406030204" pitchFamily="18" charset="0"/>
                                      <a:ea typeface="Cambria Math" panose="02040503050406030204" pitchFamily="18" charset="0"/>
                                    </a:rPr>
                                  </m:ctrlPr>
                                </m:dPr>
                                <m:e>
                                  <m:r>
                                    <a:rPr lang="fr-FR" sz="2000" i="1">
                                      <a:latin typeface="Cambria Math" panose="02040503050406030204" pitchFamily="18" charset="0"/>
                                      <a:ea typeface="Cambria Math" panose="02040503050406030204" pitchFamily="18" charset="0"/>
                                    </a:rPr>
                                    <m:t>…</m:t>
                                  </m:r>
                                </m:e>
                              </m:d>
                            </m:e>
                          </m:d>
                          <m:r>
                            <a:rPr lang="fr-FR" sz="2000" i="1">
                              <a:latin typeface="Cambria Math" panose="02040503050406030204" pitchFamily="18" charset="0"/>
                              <a:ea typeface="Cambria Math" panose="02040503050406030204" pitchFamily="18" charset="0"/>
                            </a:rPr>
                            <m:t>+</m:t>
                          </m:r>
                          <m:sSup>
                            <m:sSupPr>
                              <m:ctrlPr>
                                <a:rPr lang="fr-FR" sz="2000" i="1">
                                  <a:latin typeface="Cambria Math" panose="02040503050406030204" pitchFamily="18" charset="0"/>
                                  <a:ea typeface="Cambria Math" panose="02040503050406030204" pitchFamily="18" charset="0"/>
                                </a:rPr>
                              </m:ctrlPr>
                            </m:sSupPr>
                            <m:e>
                              <m:r>
                                <a:rPr lang="fr-FR" sz="2000" b="1" i="1">
                                  <a:latin typeface="Cambria Math" panose="02040503050406030204" pitchFamily="18" charset="0"/>
                                  <a:ea typeface="Cambria Math" panose="02040503050406030204" pitchFamily="18" charset="0"/>
                                </a:rPr>
                                <m:t>𝒃</m:t>
                              </m:r>
                            </m:e>
                            <m:sup>
                              <m:r>
                                <a:rPr lang="fr-FR" sz="2000" i="1">
                                  <a:latin typeface="Cambria Math" panose="02040503050406030204" pitchFamily="18" charset="0"/>
                                  <a:ea typeface="Cambria Math" panose="02040503050406030204" pitchFamily="18" charset="0"/>
                                </a:rPr>
                                <m:t>𝐿</m:t>
                              </m:r>
                            </m:sup>
                          </m:sSup>
                        </m:e>
                      </m:d>
                    </m:oMath>
                  </m:oMathPara>
                </a14:m>
                <a:endParaRPr lang="en-US" sz="2000" dirty="0"/>
              </a:p>
            </p:txBody>
          </p:sp>
        </mc:Choice>
        <mc:Fallback>
          <p:sp>
            <p:nvSpPr>
              <p:cNvPr id="20" name="ZoneTexte 19">
                <a:extLst>
                  <a:ext uri="{FF2B5EF4-FFF2-40B4-BE49-F238E27FC236}">
                    <a16:creationId xmlns:a16="http://schemas.microsoft.com/office/drawing/2014/main" id="{B0B55595-6834-BF3D-8263-46E546222417}"/>
                  </a:ext>
                </a:extLst>
              </p:cNvPr>
              <p:cNvSpPr txBox="1">
                <a:spLocks noRot="1" noChangeAspect="1" noMove="1" noResize="1" noEditPoints="1" noAdjustHandles="1" noChangeArrowheads="1" noChangeShapeType="1" noTextEdit="1"/>
              </p:cNvSpPr>
              <p:nvPr/>
            </p:nvSpPr>
            <p:spPr>
              <a:xfrm>
                <a:off x="8503814" y="4050829"/>
                <a:ext cx="2457981" cy="307777"/>
              </a:xfrm>
              <a:prstGeom prst="rect">
                <a:avLst/>
              </a:prstGeom>
              <a:blipFill>
                <a:blip r:embed="rId8"/>
                <a:stretch>
                  <a:fillRect l="-744" t="-4000" b="-34000"/>
                </a:stretch>
              </a:blipFill>
            </p:spPr>
            <p:txBody>
              <a:bodyPr/>
              <a:lstStyle/>
              <a:p>
                <a:r>
                  <a:rPr lang="en-US">
                    <a:noFill/>
                  </a:rPr>
                  <a:t> </a:t>
                </a:r>
              </a:p>
            </p:txBody>
          </p:sp>
        </mc:Fallback>
      </mc:AlternateContent>
    </p:spTree>
    <p:extLst>
      <p:ext uri="{BB962C8B-B14F-4D97-AF65-F5344CB8AC3E}">
        <p14:creationId xmlns:p14="http://schemas.microsoft.com/office/powerpoint/2010/main" val="1088526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14</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Forward Propagation : Prediction and Cost Function</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01B896DC-9F64-077C-FF27-BBAC9172EF9D}"/>
                  </a:ext>
                </a:extLst>
              </p:cNvPr>
              <p:cNvSpPr>
                <a:spLocks noGrp="1"/>
              </p:cNvSpPr>
              <p:nvPr>
                <p:ph idx="1"/>
              </p:nvPr>
            </p:nvSpPr>
            <p:spPr>
              <a:xfrm>
                <a:off x="-344669" y="1270115"/>
                <a:ext cx="7044517" cy="5176731"/>
              </a:xfrm>
            </p:spPr>
            <p:txBody>
              <a:bodyPr>
                <a:normAutofit/>
              </a:bodyPr>
              <a:lstStyle/>
              <a:p>
                <a:pPr lvl="1" algn="just"/>
                <a:r>
                  <a:rPr lang="en-US" dirty="0"/>
                  <a:t>The loss measures “how wrong” the prediction </a:t>
                </a:r>
                <a14:m>
                  <m:oMath xmlns:m="http://schemas.openxmlformats.org/officeDocument/2006/math">
                    <m:acc>
                      <m:accPr>
                        <m:chr m:val="̂"/>
                        <m:ctrlPr>
                          <a:rPr lang="en-US" i="1" smtClean="0">
                            <a:latin typeface="Cambria Math" panose="02040503050406030204" pitchFamily="18" charset="0"/>
                          </a:rPr>
                        </m:ctrlPr>
                      </m:accPr>
                      <m:e>
                        <m:r>
                          <a:rPr lang="fr-FR" b="0" i="1" smtClean="0">
                            <a:latin typeface="Cambria Math" panose="02040503050406030204" pitchFamily="18" charset="0"/>
                          </a:rPr>
                          <m:t>𝑦</m:t>
                        </m:r>
                      </m:e>
                    </m:acc>
                  </m:oMath>
                </a14:m>
                <a:r>
                  <a:rPr lang="en-US" dirty="0"/>
                  <a:t> is compared to the label </a:t>
                </a:r>
                <a14:m>
                  <m:oMath xmlns:m="http://schemas.openxmlformats.org/officeDocument/2006/math">
                    <m:r>
                      <a:rPr lang="fr-FR" b="0" i="1" smtClean="0">
                        <a:latin typeface="Cambria Math" panose="02040503050406030204" pitchFamily="18" charset="0"/>
                      </a:rPr>
                      <m:t>𝑦</m:t>
                    </m:r>
                  </m:oMath>
                </a14:m>
                <a:r>
                  <a:rPr lang="en-US" dirty="0"/>
                  <a:t>.</a:t>
                </a:r>
              </a:p>
              <a:p>
                <a:pPr lvl="2" algn="just"/>
                <a:r>
                  <a:rPr lang="en-US" dirty="0"/>
                  <a:t>To train a model, we need data and targets (ground truth labels). (Supervised Learning)</a:t>
                </a:r>
              </a:p>
              <a:p>
                <a:pPr lvl="1" algn="just"/>
                <a:r>
                  <a:rPr lang="en-US" dirty="0"/>
                  <a:t>Different tasks use different loss functions:</a:t>
                </a:r>
              </a:p>
              <a:p>
                <a:pPr lvl="2" algn="just"/>
                <a:r>
                  <a:rPr lang="en-US" dirty="0"/>
                  <a:t>Regression: Mean Squared Error (MSE), …</a:t>
                </a:r>
              </a:p>
              <a:p>
                <a:pPr lvl="2" algn="just"/>
                <a:r>
                  <a:rPr lang="en-US" dirty="0"/>
                  <a:t>Classification : Cross-Entropy, …</a:t>
                </a:r>
              </a:p>
              <a:p>
                <a:pPr lvl="2" algn="just"/>
                <a:r>
                  <a:rPr lang="en-US" dirty="0"/>
                  <a:t>Clustering and Anomalies : Squared Euclidean Distance</a:t>
                </a:r>
              </a:p>
              <a:p>
                <a:pPr lvl="1" algn="just"/>
                <a:r>
                  <a:rPr lang="en-US" dirty="0"/>
                  <a:t>Training in ML/DL can be formulated as minimizing the loss with respect to the weights and biases :</a:t>
                </a:r>
              </a:p>
            </p:txBody>
          </p:sp>
        </mc:Choice>
        <mc:Fallback>
          <p:sp>
            <p:nvSpPr>
              <p:cNvPr id="3" name="Espace réservé du contenu 2">
                <a:extLst>
                  <a:ext uri="{FF2B5EF4-FFF2-40B4-BE49-F238E27FC236}">
                    <a16:creationId xmlns:a16="http://schemas.microsoft.com/office/drawing/2014/main" id="{01B896DC-9F64-077C-FF27-BBAC9172EF9D}"/>
                  </a:ext>
                </a:extLst>
              </p:cNvPr>
              <p:cNvSpPr>
                <a:spLocks noGrp="1" noRot="1" noChangeAspect="1" noMove="1" noResize="1" noEditPoints="1" noAdjustHandles="1" noChangeArrowheads="1" noChangeShapeType="1" noTextEdit="1"/>
              </p:cNvSpPr>
              <p:nvPr>
                <p:ph idx="1"/>
              </p:nvPr>
            </p:nvSpPr>
            <p:spPr>
              <a:xfrm>
                <a:off x="-344669" y="1270115"/>
                <a:ext cx="7044517" cy="5176731"/>
              </a:xfrm>
              <a:blipFill>
                <a:blip r:embed="rId4"/>
                <a:stretch>
                  <a:fillRect t="-1647" r="-5709"/>
                </a:stretch>
              </a:blipFill>
            </p:spPr>
            <p:txBody>
              <a:bodyPr/>
              <a:lstStyle/>
              <a:p>
                <a:r>
                  <a:rPr lang="en-US">
                    <a:noFill/>
                  </a:rPr>
                  <a:t> </a:t>
                </a:r>
              </a:p>
            </p:txBody>
          </p:sp>
        </mc:Fallback>
      </mc:AlternateContent>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sz="4900" dirty="0"/>
              <a:t>Prediction and Loss Function</a:t>
            </a:r>
            <a:br>
              <a:rPr lang="en-US" dirty="0"/>
            </a:br>
            <a:r>
              <a:rPr lang="en-US" sz="2400" dirty="0">
                <a:solidFill>
                  <a:srgbClr val="324B85"/>
                </a:solidFill>
                <a:cs typeface="Helvetica" panose="020B0604020202020204" pitchFamily="34" charset="0"/>
              </a:rPr>
              <a:t>Building Blocks of Deep Learning</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mc:AlternateContent xmlns:mc="http://schemas.openxmlformats.org/markup-compatibility/2006">
        <mc:Choice xmlns:a14="http://schemas.microsoft.com/office/drawing/2010/main" Requires="a14">
          <p:sp>
            <p:nvSpPr>
              <p:cNvPr id="6" name="ZoneTexte 5">
                <a:extLst>
                  <a:ext uri="{FF2B5EF4-FFF2-40B4-BE49-F238E27FC236}">
                    <a16:creationId xmlns:a16="http://schemas.microsoft.com/office/drawing/2014/main" id="{85A3F9AC-A6A4-A687-4354-23D3C2D12E23}"/>
                  </a:ext>
                </a:extLst>
              </p:cNvPr>
              <p:cNvSpPr txBox="1"/>
              <p:nvPr/>
            </p:nvSpPr>
            <p:spPr>
              <a:xfrm>
                <a:off x="1086929" y="5280730"/>
                <a:ext cx="3735336" cy="520592"/>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fr-FR" sz="2400" b="0" i="1" smtClean="0">
                              <a:latin typeface="Cambria Math" panose="02040503050406030204" pitchFamily="18" charset="0"/>
                            </a:rPr>
                          </m:ctrlPr>
                        </m:sSupPr>
                        <m:e>
                          <m:d>
                            <m:dPr>
                              <m:ctrlPr>
                                <a:rPr lang="fr-FR" sz="2400" b="0" i="1" smtClean="0">
                                  <a:latin typeface="Cambria Math" panose="02040503050406030204" pitchFamily="18" charset="0"/>
                                </a:rPr>
                              </m:ctrlPr>
                            </m:dPr>
                            <m:e>
                              <m:r>
                                <a:rPr lang="fr-FR" sz="2400" b="1" i="1" smtClean="0">
                                  <a:latin typeface="Cambria Math" panose="02040503050406030204" pitchFamily="18" charset="0"/>
                                </a:rPr>
                                <m:t>𝑾</m:t>
                              </m:r>
                              <m:r>
                                <a:rPr lang="fr-FR" sz="2400" b="0" i="1" smtClean="0">
                                  <a:latin typeface="Cambria Math" panose="02040503050406030204" pitchFamily="18" charset="0"/>
                                </a:rPr>
                                <m:t>,</m:t>
                              </m:r>
                              <m:r>
                                <a:rPr lang="fr-FR" sz="2400" b="1" i="1" smtClean="0">
                                  <a:latin typeface="Cambria Math" panose="02040503050406030204" pitchFamily="18" charset="0"/>
                                </a:rPr>
                                <m:t>𝒃</m:t>
                              </m:r>
                            </m:e>
                          </m:d>
                        </m:e>
                        <m:sup>
                          <m:r>
                            <a:rPr lang="fr-FR" sz="2400" b="0" i="1" smtClean="0">
                              <a:latin typeface="Cambria Math" panose="02040503050406030204" pitchFamily="18" charset="0"/>
                            </a:rPr>
                            <m:t>∗</m:t>
                          </m:r>
                        </m:sup>
                      </m:sSup>
                      <m:r>
                        <a:rPr lang="fr-FR" sz="2400" b="0" i="1" smtClean="0">
                          <a:latin typeface="Cambria Math" panose="02040503050406030204" pitchFamily="18" charset="0"/>
                        </a:rPr>
                        <m:t>=</m:t>
                      </m:r>
                      <m:func>
                        <m:funcPr>
                          <m:ctrlPr>
                            <a:rPr lang="fr-FR" sz="2400" b="0" i="1" smtClean="0">
                              <a:latin typeface="Cambria Math" panose="02040503050406030204" pitchFamily="18" charset="0"/>
                            </a:rPr>
                          </m:ctrlPr>
                        </m:funcPr>
                        <m:fName>
                          <m:r>
                            <m:rPr>
                              <m:sty m:val="p"/>
                            </m:rPr>
                            <a:rPr lang="fr-FR" sz="2400" b="0" i="0" smtClean="0">
                              <a:latin typeface="Cambria Math" panose="02040503050406030204" pitchFamily="18" charset="0"/>
                            </a:rPr>
                            <m:t>arg</m:t>
                          </m:r>
                        </m:fName>
                        <m:e>
                          <m:func>
                            <m:funcPr>
                              <m:ctrlPr>
                                <a:rPr lang="fr-FR" sz="2400" b="0" i="1" smtClean="0">
                                  <a:latin typeface="Cambria Math" panose="02040503050406030204" pitchFamily="18" charset="0"/>
                                </a:rPr>
                              </m:ctrlPr>
                            </m:funcPr>
                            <m:fName>
                              <m:limLow>
                                <m:limLowPr>
                                  <m:ctrlPr>
                                    <a:rPr lang="fr-FR" sz="2400" b="0" i="1" smtClean="0">
                                      <a:latin typeface="Cambria Math" panose="02040503050406030204" pitchFamily="18" charset="0"/>
                                    </a:rPr>
                                  </m:ctrlPr>
                                </m:limLowPr>
                                <m:e>
                                  <m:r>
                                    <m:rPr>
                                      <m:sty m:val="p"/>
                                    </m:rPr>
                                    <a:rPr lang="fr-FR" sz="2400" b="0" i="0" smtClean="0">
                                      <a:latin typeface="Cambria Math" panose="02040503050406030204" pitchFamily="18" charset="0"/>
                                    </a:rPr>
                                    <m:t>min</m:t>
                                  </m:r>
                                </m:e>
                                <m:lim>
                                  <m:d>
                                    <m:dPr>
                                      <m:ctrlPr>
                                        <a:rPr lang="fr-FR" sz="2400" i="1">
                                          <a:latin typeface="Cambria Math" panose="02040503050406030204" pitchFamily="18" charset="0"/>
                                        </a:rPr>
                                      </m:ctrlPr>
                                    </m:dPr>
                                    <m:e>
                                      <m:r>
                                        <a:rPr lang="fr-FR" sz="2400" b="1" i="1">
                                          <a:latin typeface="Cambria Math" panose="02040503050406030204" pitchFamily="18" charset="0"/>
                                        </a:rPr>
                                        <m:t>𝑾</m:t>
                                      </m:r>
                                      <m:r>
                                        <a:rPr lang="fr-FR" sz="2400" i="1">
                                          <a:latin typeface="Cambria Math" panose="02040503050406030204" pitchFamily="18" charset="0"/>
                                        </a:rPr>
                                        <m:t>,</m:t>
                                      </m:r>
                                      <m:r>
                                        <a:rPr lang="fr-FR" sz="2400" b="1" i="1">
                                          <a:latin typeface="Cambria Math" panose="02040503050406030204" pitchFamily="18" charset="0"/>
                                        </a:rPr>
                                        <m:t>𝒃</m:t>
                                      </m:r>
                                    </m:e>
                                  </m:d>
                                </m:lim>
                              </m:limLow>
                            </m:fName>
                            <m:e>
                              <m:r>
                                <a:rPr lang="fr-FR" sz="2400" b="0" i="1" smtClean="0">
                                  <a:latin typeface="Cambria Math" panose="02040503050406030204" pitchFamily="18" charset="0"/>
                                </a:rPr>
                                <m:t>𝐽</m:t>
                              </m:r>
                              <m:d>
                                <m:dPr>
                                  <m:ctrlPr>
                                    <a:rPr lang="fr-FR" sz="2400" i="1">
                                      <a:latin typeface="Cambria Math" panose="02040503050406030204" pitchFamily="18" charset="0"/>
                                    </a:rPr>
                                  </m:ctrlPr>
                                </m:dPr>
                                <m:e>
                                  <m:r>
                                    <a:rPr lang="fr-FR" sz="2400" b="1" i="1">
                                      <a:latin typeface="Cambria Math" panose="02040503050406030204" pitchFamily="18" charset="0"/>
                                    </a:rPr>
                                    <m:t>𝑾</m:t>
                                  </m:r>
                                  <m:r>
                                    <a:rPr lang="fr-FR" sz="2400" i="1">
                                      <a:latin typeface="Cambria Math" panose="02040503050406030204" pitchFamily="18" charset="0"/>
                                    </a:rPr>
                                    <m:t>,</m:t>
                                  </m:r>
                                  <m:r>
                                    <a:rPr lang="fr-FR" sz="2400" b="1" i="1">
                                      <a:latin typeface="Cambria Math" panose="02040503050406030204" pitchFamily="18" charset="0"/>
                                    </a:rPr>
                                    <m:t>𝒃</m:t>
                                  </m:r>
                                </m:e>
                              </m:d>
                            </m:e>
                          </m:func>
                        </m:e>
                      </m:func>
                    </m:oMath>
                  </m:oMathPara>
                </a14:m>
                <a:endParaRPr lang="en-US" dirty="0"/>
              </a:p>
            </p:txBody>
          </p:sp>
        </mc:Choice>
        <mc:Fallback>
          <p:sp>
            <p:nvSpPr>
              <p:cNvPr id="6" name="ZoneTexte 5">
                <a:extLst>
                  <a:ext uri="{FF2B5EF4-FFF2-40B4-BE49-F238E27FC236}">
                    <a16:creationId xmlns:a16="http://schemas.microsoft.com/office/drawing/2014/main" id="{85A3F9AC-A6A4-A687-4354-23D3C2D12E23}"/>
                  </a:ext>
                </a:extLst>
              </p:cNvPr>
              <p:cNvSpPr txBox="1">
                <a:spLocks noRot="1" noChangeAspect="1" noMove="1" noResize="1" noEditPoints="1" noAdjustHandles="1" noChangeArrowheads="1" noChangeShapeType="1" noTextEdit="1"/>
              </p:cNvSpPr>
              <p:nvPr/>
            </p:nvSpPr>
            <p:spPr>
              <a:xfrm>
                <a:off x="1086929" y="5280730"/>
                <a:ext cx="3735336" cy="520592"/>
              </a:xfrm>
              <a:prstGeom prst="rect">
                <a:avLst/>
              </a:prstGeom>
              <a:blipFill>
                <a:blip r:embed="rId6"/>
                <a:stretch>
                  <a:fillRect b="-69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ZoneTexte 6">
                <a:extLst>
                  <a:ext uri="{FF2B5EF4-FFF2-40B4-BE49-F238E27FC236}">
                    <a16:creationId xmlns:a16="http://schemas.microsoft.com/office/drawing/2014/main" id="{09F7BC3B-2CF7-8FD4-3654-A23358CE07A1}"/>
                  </a:ext>
                </a:extLst>
              </p:cNvPr>
              <p:cNvSpPr txBox="1"/>
              <p:nvPr/>
            </p:nvSpPr>
            <p:spPr>
              <a:xfrm>
                <a:off x="7135840" y="1423879"/>
                <a:ext cx="4804777" cy="523541"/>
              </a:xfrm>
              <a:prstGeom prst="rect">
                <a:avLst/>
              </a:prstGeom>
              <a:noFill/>
            </p:spPr>
            <p:txBody>
              <a:bodyPr wrap="none" lIns="0" tIns="0" rIns="0" bIns="0" rtlCol="0">
                <a:spAutoFit/>
              </a:bodyPr>
              <a:lstStyle/>
              <a:p>
                <a14:m>
                  <m:oMath xmlns:m="http://schemas.openxmlformats.org/officeDocument/2006/math">
                    <m:r>
                      <a:rPr lang="fr-FR" sz="2400" b="0" i="1" smtClean="0">
                        <a:latin typeface="Cambria Math" panose="02040503050406030204" pitchFamily="18" charset="0"/>
                      </a:rPr>
                      <m:t>𝑀𝑆𝐸</m:t>
                    </m:r>
                    <m:r>
                      <a:rPr lang="fr-FR" sz="2400" b="0" i="1" smtClean="0">
                        <a:latin typeface="Cambria Math" panose="02040503050406030204" pitchFamily="18" charset="0"/>
                      </a:rPr>
                      <m:t>=</m:t>
                    </m:r>
                    <m:r>
                      <a:rPr lang="fr-FR" sz="2400" b="0" i="1" smtClean="0">
                        <a:latin typeface="Cambria Math" panose="02040503050406030204" pitchFamily="18" charset="0"/>
                      </a:rPr>
                      <m:t>𝐽</m:t>
                    </m:r>
                    <m:d>
                      <m:dPr>
                        <m:ctrlPr>
                          <a:rPr lang="fr-FR" sz="2400" i="1">
                            <a:latin typeface="Cambria Math" panose="02040503050406030204" pitchFamily="18" charset="0"/>
                          </a:rPr>
                        </m:ctrlPr>
                      </m:dPr>
                      <m:e>
                        <m:r>
                          <a:rPr lang="fr-FR" sz="2400" b="1" i="1">
                            <a:latin typeface="Cambria Math" panose="02040503050406030204" pitchFamily="18" charset="0"/>
                          </a:rPr>
                          <m:t>𝑾</m:t>
                        </m:r>
                        <m:r>
                          <a:rPr lang="fr-FR" sz="2400" i="1">
                            <a:latin typeface="Cambria Math" panose="02040503050406030204" pitchFamily="18" charset="0"/>
                          </a:rPr>
                          <m:t>,</m:t>
                        </m:r>
                        <m:r>
                          <a:rPr lang="fr-FR" sz="2400" b="1" i="1">
                            <a:latin typeface="Cambria Math" panose="02040503050406030204" pitchFamily="18" charset="0"/>
                          </a:rPr>
                          <m:t>𝒃</m:t>
                        </m:r>
                      </m:e>
                    </m:d>
                    <m:r>
                      <a:rPr lang="fr-FR" sz="2400" b="0" i="1" smtClean="0">
                        <a:latin typeface="Cambria Math" panose="02040503050406030204" pitchFamily="18" charset="0"/>
                      </a:rPr>
                      <m:t>=</m:t>
                    </m:r>
                    <m:f>
                      <m:fPr>
                        <m:ctrlPr>
                          <a:rPr lang="fr-FR" sz="2400" i="1" smtClean="0">
                            <a:latin typeface="Cambria Math" panose="02040503050406030204" pitchFamily="18" charset="0"/>
                          </a:rPr>
                        </m:ctrlPr>
                      </m:fPr>
                      <m:num>
                        <m:r>
                          <a:rPr lang="fr-FR" sz="2400" b="0" i="1" smtClean="0">
                            <a:latin typeface="Cambria Math" panose="02040503050406030204" pitchFamily="18" charset="0"/>
                          </a:rPr>
                          <m:t>1</m:t>
                        </m:r>
                      </m:num>
                      <m:den>
                        <m:r>
                          <a:rPr lang="fr-FR" sz="2400" b="0" i="1" smtClean="0">
                            <a:latin typeface="Cambria Math" panose="02040503050406030204" pitchFamily="18" charset="0"/>
                          </a:rPr>
                          <m:t>2</m:t>
                        </m:r>
                        <m:r>
                          <a:rPr lang="fr-FR" sz="2400" b="0" i="1" smtClean="0">
                            <a:latin typeface="Cambria Math" panose="02040503050406030204" pitchFamily="18" charset="0"/>
                          </a:rPr>
                          <m:t>𝑚</m:t>
                        </m:r>
                      </m:den>
                    </m:f>
                    <m:nary>
                      <m:naryPr>
                        <m:chr m:val="∑"/>
                        <m:limLoc m:val="subSup"/>
                        <m:ctrlPr>
                          <a:rPr lang="fr-FR" sz="2400" i="1" smtClean="0">
                            <a:latin typeface="Cambria Math" panose="02040503050406030204" pitchFamily="18" charset="0"/>
                          </a:rPr>
                        </m:ctrlPr>
                      </m:naryPr>
                      <m:sub>
                        <m:r>
                          <m:rPr>
                            <m:brk m:alnAt="25"/>
                          </m:rPr>
                          <a:rPr lang="fr-FR" sz="2400" b="0" i="1" smtClean="0">
                            <a:latin typeface="Cambria Math" panose="02040503050406030204" pitchFamily="18" charset="0"/>
                          </a:rPr>
                          <m:t>𝑖</m:t>
                        </m:r>
                        <m:r>
                          <a:rPr lang="fr-FR" sz="2400" b="0" i="1" smtClean="0">
                            <a:latin typeface="Cambria Math" panose="02040503050406030204" pitchFamily="18" charset="0"/>
                          </a:rPr>
                          <m:t>=1</m:t>
                        </m:r>
                      </m:sub>
                      <m:sup>
                        <m:r>
                          <a:rPr lang="fr-FR" sz="2400" b="0" i="1" smtClean="0">
                            <a:latin typeface="Cambria Math" panose="02040503050406030204" pitchFamily="18" charset="0"/>
                          </a:rPr>
                          <m:t>𝑚</m:t>
                        </m:r>
                      </m:sup>
                      <m:e>
                        <m:sSup>
                          <m:sSupPr>
                            <m:ctrlPr>
                              <a:rPr lang="fr-FR" sz="2400" i="1" smtClean="0">
                                <a:latin typeface="Cambria Math" panose="02040503050406030204" pitchFamily="18" charset="0"/>
                              </a:rPr>
                            </m:ctrlPr>
                          </m:sSupPr>
                          <m:e>
                            <m:d>
                              <m:dPr>
                                <m:ctrlPr>
                                  <a:rPr lang="fr-FR" sz="2400" i="1" smtClean="0">
                                    <a:latin typeface="Cambria Math" panose="02040503050406030204" pitchFamily="18" charset="0"/>
                                  </a:rPr>
                                </m:ctrlPr>
                              </m:dPr>
                              <m:e>
                                <m:sSub>
                                  <m:sSubPr>
                                    <m:ctrlPr>
                                      <a:rPr lang="fr-FR" sz="2400" i="1" smtClean="0">
                                        <a:latin typeface="Cambria Math" panose="02040503050406030204" pitchFamily="18" charset="0"/>
                                      </a:rPr>
                                    </m:ctrlPr>
                                  </m:sSubPr>
                                  <m:e>
                                    <m:acc>
                                      <m:accPr>
                                        <m:chr m:val="̂"/>
                                        <m:ctrlPr>
                                          <a:rPr lang="fr-FR" sz="2400" b="1" i="1" smtClean="0">
                                            <a:latin typeface="Cambria Math" panose="02040503050406030204" pitchFamily="18" charset="0"/>
                                          </a:rPr>
                                        </m:ctrlPr>
                                      </m:accPr>
                                      <m:e>
                                        <m:r>
                                          <a:rPr lang="fr-FR" sz="2400" b="1" i="1" smtClean="0">
                                            <a:latin typeface="Cambria Math" panose="02040503050406030204" pitchFamily="18" charset="0"/>
                                          </a:rPr>
                                          <m:t>𝒚</m:t>
                                        </m:r>
                                      </m:e>
                                    </m:acc>
                                  </m:e>
                                  <m:sub>
                                    <m:r>
                                      <a:rPr lang="fr-FR" sz="2400" b="0" i="1" smtClean="0">
                                        <a:latin typeface="Cambria Math" panose="02040503050406030204" pitchFamily="18" charset="0"/>
                                      </a:rPr>
                                      <m:t>𝑖</m:t>
                                    </m:r>
                                  </m:sub>
                                </m:sSub>
                                <m:r>
                                  <a:rPr lang="fr-FR" sz="2400" b="0" i="1" smtClean="0">
                                    <a:latin typeface="Cambria Math" panose="02040503050406030204" pitchFamily="18" charset="0"/>
                                  </a:rPr>
                                  <m:t>−</m:t>
                                </m:r>
                                <m:sSub>
                                  <m:sSubPr>
                                    <m:ctrlPr>
                                      <a:rPr lang="fr-FR" sz="2400" i="1" smtClean="0">
                                        <a:latin typeface="Cambria Math" panose="02040503050406030204" pitchFamily="18" charset="0"/>
                                      </a:rPr>
                                    </m:ctrlPr>
                                  </m:sSubPr>
                                  <m:e>
                                    <m:r>
                                      <a:rPr lang="fr-FR" sz="2400" b="1" i="1" smtClean="0">
                                        <a:latin typeface="Cambria Math" panose="02040503050406030204" pitchFamily="18" charset="0"/>
                                      </a:rPr>
                                      <m:t>𝒚</m:t>
                                    </m:r>
                                  </m:e>
                                  <m:sub>
                                    <m:r>
                                      <a:rPr lang="fr-FR" sz="2400" b="0" i="1" smtClean="0">
                                        <a:latin typeface="Cambria Math" panose="02040503050406030204" pitchFamily="18" charset="0"/>
                                      </a:rPr>
                                      <m:t>𝑖</m:t>
                                    </m:r>
                                  </m:sub>
                                </m:sSub>
                              </m:e>
                            </m:d>
                          </m:e>
                          <m:sup>
                            <m:r>
                              <a:rPr lang="fr-FR" sz="2400" b="0" i="1" smtClean="0">
                                <a:latin typeface="Cambria Math" panose="02040503050406030204" pitchFamily="18" charset="0"/>
                              </a:rPr>
                              <m:t>2</m:t>
                            </m:r>
                          </m:sup>
                        </m:sSup>
                      </m:e>
                    </m:nary>
                  </m:oMath>
                </a14:m>
                <a:r>
                  <a:rPr lang="en-US" sz="2400" dirty="0"/>
                  <a:t> </a:t>
                </a:r>
              </a:p>
            </p:txBody>
          </p:sp>
        </mc:Choice>
        <mc:Fallback>
          <p:sp>
            <p:nvSpPr>
              <p:cNvPr id="7" name="ZoneTexte 6">
                <a:extLst>
                  <a:ext uri="{FF2B5EF4-FFF2-40B4-BE49-F238E27FC236}">
                    <a16:creationId xmlns:a16="http://schemas.microsoft.com/office/drawing/2014/main" id="{09F7BC3B-2CF7-8FD4-3654-A23358CE07A1}"/>
                  </a:ext>
                </a:extLst>
              </p:cNvPr>
              <p:cNvSpPr txBox="1">
                <a:spLocks noRot="1" noChangeAspect="1" noMove="1" noResize="1" noEditPoints="1" noAdjustHandles="1" noChangeArrowheads="1" noChangeShapeType="1" noTextEdit="1"/>
              </p:cNvSpPr>
              <p:nvPr/>
            </p:nvSpPr>
            <p:spPr>
              <a:xfrm>
                <a:off x="7135840" y="1423879"/>
                <a:ext cx="4804777" cy="52354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ZoneTexte 7">
                <a:extLst>
                  <a:ext uri="{FF2B5EF4-FFF2-40B4-BE49-F238E27FC236}">
                    <a16:creationId xmlns:a16="http://schemas.microsoft.com/office/drawing/2014/main" id="{1B021FB5-F4E4-3DC9-C17B-C5728B87FA28}"/>
                  </a:ext>
                </a:extLst>
              </p:cNvPr>
              <p:cNvSpPr txBox="1"/>
              <p:nvPr/>
            </p:nvSpPr>
            <p:spPr>
              <a:xfrm>
                <a:off x="7300243" y="2151219"/>
                <a:ext cx="4475969" cy="384144"/>
              </a:xfrm>
              <a:prstGeom prst="rect">
                <a:avLst/>
              </a:prstGeom>
              <a:noFill/>
            </p:spPr>
            <p:txBody>
              <a:bodyPr wrap="none" lIns="0" tIns="0" rIns="0" bIns="0" rtlCol="0">
                <a:spAutoFit/>
              </a:bodyPr>
              <a:lstStyle/>
              <a:p>
                <a14:m>
                  <m:oMath xmlns:m="http://schemas.openxmlformats.org/officeDocument/2006/math">
                    <m:r>
                      <a:rPr lang="fr-FR" sz="2400" b="0" i="1" smtClean="0">
                        <a:latin typeface="Cambria Math" panose="02040503050406030204" pitchFamily="18" charset="0"/>
                      </a:rPr>
                      <m:t>𝐶𝐸</m:t>
                    </m:r>
                    <m:r>
                      <a:rPr lang="fr-FR" sz="2400" b="0" i="1" smtClean="0">
                        <a:latin typeface="Cambria Math" panose="02040503050406030204" pitchFamily="18" charset="0"/>
                      </a:rPr>
                      <m:t>=</m:t>
                    </m:r>
                    <m:r>
                      <a:rPr lang="fr-FR" sz="2400" b="0" i="1" smtClean="0">
                        <a:latin typeface="Cambria Math" panose="02040503050406030204" pitchFamily="18" charset="0"/>
                      </a:rPr>
                      <m:t>𝐽</m:t>
                    </m:r>
                    <m:d>
                      <m:dPr>
                        <m:ctrlPr>
                          <a:rPr lang="fr-FR" sz="2400" i="1">
                            <a:latin typeface="Cambria Math" panose="02040503050406030204" pitchFamily="18" charset="0"/>
                          </a:rPr>
                        </m:ctrlPr>
                      </m:dPr>
                      <m:e>
                        <m:r>
                          <a:rPr lang="fr-FR" sz="2400" b="1" i="1">
                            <a:latin typeface="Cambria Math" panose="02040503050406030204" pitchFamily="18" charset="0"/>
                          </a:rPr>
                          <m:t>𝑾</m:t>
                        </m:r>
                        <m:r>
                          <a:rPr lang="fr-FR" sz="2400" i="1">
                            <a:latin typeface="Cambria Math" panose="02040503050406030204" pitchFamily="18" charset="0"/>
                          </a:rPr>
                          <m:t>,</m:t>
                        </m:r>
                        <m:r>
                          <a:rPr lang="fr-FR" sz="2400" b="1" i="1">
                            <a:latin typeface="Cambria Math" panose="02040503050406030204" pitchFamily="18" charset="0"/>
                          </a:rPr>
                          <m:t>𝒃</m:t>
                        </m:r>
                      </m:e>
                    </m:d>
                    <m:r>
                      <a:rPr lang="fr-FR" sz="2400" b="1" i="1" smtClean="0">
                        <a:latin typeface="Cambria Math" panose="02040503050406030204" pitchFamily="18" charset="0"/>
                      </a:rPr>
                      <m:t>=</m:t>
                    </m:r>
                    <m:r>
                      <a:rPr lang="fr-FR" sz="2400" b="0" i="1" smtClean="0">
                        <a:latin typeface="Cambria Math" panose="02040503050406030204" pitchFamily="18" charset="0"/>
                      </a:rPr>
                      <m:t>−</m:t>
                    </m:r>
                    <m:nary>
                      <m:naryPr>
                        <m:chr m:val="∑"/>
                        <m:limLoc m:val="subSup"/>
                        <m:ctrlPr>
                          <a:rPr lang="fr-FR" sz="2400" i="1" smtClean="0">
                            <a:latin typeface="Cambria Math" panose="02040503050406030204" pitchFamily="18" charset="0"/>
                          </a:rPr>
                        </m:ctrlPr>
                      </m:naryPr>
                      <m:sub>
                        <m:r>
                          <m:rPr>
                            <m:brk m:alnAt="25"/>
                          </m:rPr>
                          <a:rPr lang="fr-FR" sz="2400" b="0" i="1" smtClean="0">
                            <a:latin typeface="Cambria Math" panose="02040503050406030204" pitchFamily="18" charset="0"/>
                          </a:rPr>
                          <m:t>𝑘</m:t>
                        </m:r>
                        <m:r>
                          <a:rPr lang="fr-FR" sz="2400" b="0" i="1" smtClean="0">
                            <a:latin typeface="Cambria Math" panose="02040503050406030204" pitchFamily="18" charset="0"/>
                          </a:rPr>
                          <m:t>=1</m:t>
                        </m:r>
                      </m:sub>
                      <m:sup>
                        <m:r>
                          <a:rPr lang="fr-FR" sz="2400" b="0" i="1" smtClean="0">
                            <a:latin typeface="Cambria Math" panose="02040503050406030204" pitchFamily="18" charset="0"/>
                          </a:rPr>
                          <m:t>𝐾</m:t>
                        </m:r>
                      </m:sup>
                      <m:e>
                        <m:sSub>
                          <m:sSubPr>
                            <m:ctrlPr>
                              <a:rPr lang="fr-FR" sz="2400" i="1" smtClean="0">
                                <a:latin typeface="Cambria Math" panose="02040503050406030204" pitchFamily="18" charset="0"/>
                              </a:rPr>
                            </m:ctrlPr>
                          </m:sSubPr>
                          <m:e>
                            <m:r>
                              <a:rPr lang="fr-FR" sz="2400" b="1" i="1" smtClean="0">
                                <a:latin typeface="Cambria Math" panose="02040503050406030204" pitchFamily="18" charset="0"/>
                              </a:rPr>
                              <m:t>𝒚</m:t>
                            </m:r>
                          </m:e>
                          <m:sub>
                            <m:r>
                              <a:rPr lang="fr-FR" sz="2400" b="0" i="1" smtClean="0">
                                <a:latin typeface="Cambria Math" panose="02040503050406030204" pitchFamily="18" charset="0"/>
                              </a:rPr>
                              <m:t>𝑘</m:t>
                            </m:r>
                          </m:sub>
                        </m:sSub>
                        <m:r>
                          <a:rPr lang="fr-FR" sz="2400" b="0" i="1" smtClean="0">
                            <a:latin typeface="Cambria Math" panose="02040503050406030204" pitchFamily="18" charset="0"/>
                          </a:rPr>
                          <m:t> </m:t>
                        </m:r>
                        <m:func>
                          <m:funcPr>
                            <m:ctrlPr>
                              <a:rPr lang="fr-FR" sz="2400" i="1" smtClean="0">
                                <a:latin typeface="Cambria Math" panose="02040503050406030204" pitchFamily="18" charset="0"/>
                              </a:rPr>
                            </m:ctrlPr>
                          </m:funcPr>
                          <m:fName>
                            <m:r>
                              <m:rPr>
                                <m:sty m:val="p"/>
                              </m:rPr>
                              <a:rPr lang="fr-FR" sz="2400" b="0" i="0" smtClean="0">
                                <a:latin typeface="Cambria Math" panose="02040503050406030204" pitchFamily="18" charset="0"/>
                              </a:rPr>
                              <m:t>log</m:t>
                            </m:r>
                          </m:fName>
                          <m:e>
                            <m:sSub>
                              <m:sSubPr>
                                <m:ctrlPr>
                                  <a:rPr lang="fr-FR" sz="2400" b="0" i="1" smtClean="0">
                                    <a:latin typeface="Cambria Math" panose="02040503050406030204" pitchFamily="18" charset="0"/>
                                  </a:rPr>
                                </m:ctrlPr>
                              </m:sSubPr>
                              <m:e>
                                <m:acc>
                                  <m:accPr>
                                    <m:chr m:val="̂"/>
                                    <m:ctrlPr>
                                      <a:rPr lang="fr-FR" sz="2400" b="1" i="1">
                                        <a:latin typeface="Cambria Math" panose="02040503050406030204" pitchFamily="18" charset="0"/>
                                      </a:rPr>
                                    </m:ctrlPr>
                                  </m:accPr>
                                  <m:e>
                                    <m:r>
                                      <a:rPr lang="fr-FR" sz="2400" b="1" i="1">
                                        <a:latin typeface="Cambria Math" panose="02040503050406030204" pitchFamily="18" charset="0"/>
                                      </a:rPr>
                                      <m:t>𝒚</m:t>
                                    </m:r>
                                  </m:e>
                                </m:acc>
                              </m:e>
                              <m:sub>
                                <m:r>
                                  <a:rPr lang="fr-FR" sz="2400" b="0" i="1" smtClean="0">
                                    <a:latin typeface="Cambria Math" panose="02040503050406030204" pitchFamily="18" charset="0"/>
                                  </a:rPr>
                                  <m:t>𝑘</m:t>
                                </m:r>
                              </m:sub>
                            </m:sSub>
                          </m:e>
                        </m:func>
                      </m:e>
                    </m:nary>
                  </m:oMath>
                </a14:m>
                <a:r>
                  <a:rPr lang="en-US" sz="2400" dirty="0"/>
                  <a:t> </a:t>
                </a:r>
              </a:p>
            </p:txBody>
          </p:sp>
        </mc:Choice>
        <mc:Fallback>
          <p:sp>
            <p:nvSpPr>
              <p:cNvPr id="8" name="ZoneTexte 7">
                <a:extLst>
                  <a:ext uri="{FF2B5EF4-FFF2-40B4-BE49-F238E27FC236}">
                    <a16:creationId xmlns:a16="http://schemas.microsoft.com/office/drawing/2014/main" id="{1B021FB5-F4E4-3DC9-C17B-C5728B87FA28}"/>
                  </a:ext>
                </a:extLst>
              </p:cNvPr>
              <p:cNvSpPr txBox="1">
                <a:spLocks noRot="1" noChangeAspect="1" noMove="1" noResize="1" noEditPoints="1" noAdjustHandles="1" noChangeArrowheads="1" noChangeShapeType="1" noTextEdit="1"/>
              </p:cNvSpPr>
              <p:nvPr/>
            </p:nvSpPr>
            <p:spPr>
              <a:xfrm>
                <a:off x="7300243" y="2151219"/>
                <a:ext cx="4475969" cy="384144"/>
              </a:xfrm>
              <a:prstGeom prst="rect">
                <a:avLst/>
              </a:prstGeom>
              <a:blipFill>
                <a:blip r:embed="rId8"/>
                <a:stretch>
                  <a:fillRect l="-2452" t="-166667" r="-8447" b="-246032"/>
                </a:stretch>
              </a:blipFill>
            </p:spPr>
            <p:txBody>
              <a:bodyPr/>
              <a:lstStyle/>
              <a:p>
                <a:r>
                  <a:rPr lang="en-US">
                    <a:noFill/>
                  </a:rPr>
                  <a:t> </a:t>
                </a:r>
              </a:p>
            </p:txBody>
          </p:sp>
        </mc:Fallback>
      </mc:AlternateContent>
      <p:pic>
        <p:nvPicPr>
          <p:cNvPr id="10" name="Image 9">
            <a:extLst>
              <a:ext uri="{FF2B5EF4-FFF2-40B4-BE49-F238E27FC236}">
                <a16:creationId xmlns:a16="http://schemas.microsoft.com/office/drawing/2014/main" id="{9DF91B84-B0C7-4C83-E2C2-B0464E0A1750}"/>
              </a:ext>
            </a:extLst>
          </p:cNvPr>
          <p:cNvPicPr>
            <a:picLocks noChangeAspect="1"/>
          </p:cNvPicPr>
          <p:nvPr/>
        </p:nvPicPr>
        <p:blipFill>
          <a:blip r:embed="rId9"/>
          <a:stretch>
            <a:fillRect/>
          </a:stretch>
        </p:blipFill>
        <p:spPr>
          <a:xfrm>
            <a:off x="6776820" y="3037806"/>
            <a:ext cx="5269198" cy="2242924"/>
          </a:xfrm>
          <a:prstGeom prst="rect">
            <a:avLst/>
          </a:prstGeom>
        </p:spPr>
      </p:pic>
      <p:sp>
        <p:nvSpPr>
          <p:cNvPr id="12" name="ZoneTexte 11">
            <a:extLst>
              <a:ext uri="{FF2B5EF4-FFF2-40B4-BE49-F238E27FC236}">
                <a16:creationId xmlns:a16="http://schemas.microsoft.com/office/drawing/2014/main" id="{D6EA46A1-B0DA-0CD5-234E-42E827E27E58}"/>
              </a:ext>
            </a:extLst>
          </p:cNvPr>
          <p:cNvSpPr txBox="1"/>
          <p:nvPr/>
        </p:nvSpPr>
        <p:spPr>
          <a:xfrm>
            <a:off x="6391990" y="5389732"/>
            <a:ext cx="5800010" cy="923330"/>
          </a:xfrm>
          <a:prstGeom prst="rect">
            <a:avLst/>
          </a:prstGeom>
          <a:noFill/>
        </p:spPr>
        <p:txBody>
          <a:bodyPr wrap="square">
            <a:spAutoFit/>
          </a:bodyPr>
          <a:lstStyle/>
          <a:p>
            <a:pPr algn="ctr"/>
            <a:r>
              <a:rPr lang="en-US" dirty="0"/>
              <a:t>Non-convex optimization in DNNs: Nonlinear activation functions + millions of parameters = a highly non-convex loss surface</a:t>
            </a:r>
          </a:p>
        </p:txBody>
      </p:sp>
    </p:spTree>
    <p:extLst>
      <p:ext uri="{BB962C8B-B14F-4D97-AF65-F5344CB8AC3E}">
        <p14:creationId xmlns:p14="http://schemas.microsoft.com/office/powerpoint/2010/main" val="3887998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15</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Backward Propagation : Automatic Differentiation and Weights Adjustment </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 name="Espace réservé du contenu 2">
            <a:extLst>
              <a:ext uri="{FF2B5EF4-FFF2-40B4-BE49-F238E27FC236}">
                <a16:creationId xmlns:a16="http://schemas.microsoft.com/office/drawing/2014/main" id="{01B896DC-9F64-077C-FF27-BBAC9172EF9D}"/>
              </a:ext>
            </a:extLst>
          </p:cNvPr>
          <p:cNvSpPr>
            <a:spLocks noGrp="1"/>
          </p:cNvSpPr>
          <p:nvPr>
            <p:ph idx="1"/>
          </p:nvPr>
        </p:nvSpPr>
        <p:spPr>
          <a:xfrm>
            <a:off x="5418905" y="1871291"/>
            <a:ext cx="6519445" cy="3911485"/>
          </a:xfrm>
        </p:spPr>
        <p:txBody>
          <a:bodyPr>
            <a:normAutofit/>
          </a:bodyPr>
          <a:lstStyle/>
          <a:p>
            <a:pPr lvl="1" algn="just"/>
            <a:r>
              <a:rPr lang="en-US" dirty="0"/>
              <a:t>With the goal of minimizing the loss function, training a DNN becomes an optimization problem.</a:t>
            </a:r>
          </a:p>
          <a:p>
            <a:pPr lvl="1" algn="just"/>
            <a:r>
              <a:rPr lang="en-US" dirty="0"/>
              <a:t>Several optimization algorithms exist (e.g., Newton–Raphson), but in practice we most often use gradient descent and its variants, such as Adam (Adaptive Moment Estimation).</a:t>
            </a:r>
          </a:p>
          <a:p>
            <a:pPr lvl="1" algn="just"/>
            <a:r>
              <a:rPr lang="en-US" dirty="0"/>
              <a:t>Gradients are computed efficiently using the backpropagation algorithm (chain rule) and automatic differentiation.</a:t>
            </a:r>
          </a:p>
        </p:txBody>
      </p:sp>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dirty="0"/>
              <a:t>Backward Propagation</a:t>
            </a:r>
            <a:br>
              <a:rPr lang="en-US" dirty="0"/>
            </a:br>
            <a:r>
              <a:rPr lang="en-US" sz="2400" dirty="0">
                <a:solidFill>
                  <a:srgbClr val="324B85"/>
                </a:solidFill>
                <a:cs typeface="Helvetica" panose="020B0604020202020204" pitchFamily="34" charset="0"/>
              </a:rPr>
              <a:t>Building Blocks of Deep Learning</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2" name="Image 1">
            <a:extLst>
              <a:ext uri="{FF2B5EF4-FFF2-40B4-BE49-F238E27FC236}">
                <a16:creationId xmlns:a16="http://schemas.microsoft.com/office/drawing/2014/main" id="{988E9485-B2B6-AD0A-6685-019D29DD2EB6}"/>
              </a:ext>
            </a:extLst>
          </p:cNvPr>
          <p:cNvPicPr>
            <a:picLocks noChangeAspect="1"/>
          </p:cNvPicPr>
          <p:nvPr/>
        </p:nvPicPr>
        <p:blipFill>
          <a:blip r:embed="rId5"/>
          <a:stretch>
            <a:fillRect/>
          </a:stretch>
        </p:blipFill>
        <p:spPr>
          <a:xfrm>
            <a:off x="864407" y="2283017"/>
            <a:ext cx="4808148" cy="3694334"/>
          </a:xfrm>
          <a:prstGeom prst="rect">
            <a:avLst/>
          </a:prstGeom>
        </p:spPr>
      </p:pic>
      <mc:AlternateContent xmlns:mc="http://schemas.openxmlformats.org/markup-compatibility/2006">
        <mc:Choice xmlns:a14="http://schemas.microsoft.com/office/drawing/2010/main" Requires="a14">
          <p:sp>
            <p:nvSpPr>
              <p:cNvPr id="5" name="ZoneTexte 4">
                <a:extLst>
                  <a:ext uri="{FF2B5EF4-FFF2-40B4-BE49-F238E27FC236}">
                    <a16:creationId xmlns:a16="http://schemas.microsoft.com/office/drawing/2014/main" id="{6C1185F0-9547-007C-2C0E-DD842EAEF89D}"/>
                  </a:ext>
                </a:extLst>
              </p:cNvPr>
              <p:cNvSpPr txBox="1"/>
              <p:nvPr/>
            </p:nvSpPr>
            <p:spPr>
              <a:xfrm>
                <a:off x="1052424" y="1391764"/>
                <a:ext cx="3053208"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fr-FR" sz="2400" b="0" i="1" smtClean="0">
                              <a:latin typeface="Cambria Math" panose="02040503050406030204" pitchFamily="18" charset="0"/>
                            </a:rPr>
                          </m:ctrlPr>
                        </m:sSubPr>
                        <m:e>
                          <m:r>
                            <a:rPr lang="fr-FR" sz="2400" b="1" i="1" smtClean="0">
                              <a:latin typeface="Cambria Math" panose="02040503050406030204" pitchFamily="18" charset="0"/>
                            </a:rPr>
                            <m:t>𝑾</m:t>
                          </m:r>
                        </m:e>
                        <m:sub>
                          <m:r>
                            <a:rPr lang="fr-FR" sz="2400" b="0" i="1" smtClean="0">
                              <a:latin typeface="Cambria Math" panose="02040503050406030204" pitchFamily="18" charset="0"/>
                            </a:rPr>
                            <m:t>𝑛𝑒𝑤</m:t>
                          </m:r>
                        </m:sub>
                      </m:sSub>
                      <m:r>
                        <a:rPr lang="fr-FR" sz="2400" b="0" i="1" smtClean="0">
                          <a:latin typeface="Cambria Math" panose="02040503050406030204" pitchFamily="18" charset="0"/>
                        </a:rPr>
                        <m:t>=</m:t>
                      </m:r>
                      <m:sSub>
                        <m:sSubPr>
                          <m:ctrlPr>
                            <a:rPr lang="fr-FR" sz="2400" b="0" i="1" smtClean="0">
                              <a:latin typeface="Cambria Math" panose="02040503050406030204" pitchFamily="18" charset="0"/>
                            </a:rPr>
                          </m:ctrlPr>
                        </m:sSubPr>
                        <m:e>
                          <m:r>
                            <a:rPr lang="fr-FR" sz="2400" b="1" i="1" smtClean="0">
                              <a:latin typeface="Cambria Math" panose="02040503050406030204" pitchFamily="18" charset="0"/>
                            </a:rPr>
                            <m:t>𝑾</m:t>
                          </m:r>
                        </m:e>
                        <m:sub>
                          <m:r>
                            <a:rPr lang="fr-FR" sz="2400" b="0" i="1" smtClean="0">
                              <a:latin typeface="Cambria Math" panose="02040503050406030204" pitchFamily="18" charset="0"/>
                            </a:rPr>
                            <m:t>𝑜𝑙𝑑</m:t>
                          </m:r>
                        </m:sub>
                      </m:sSub>
                      <m:r>
                        <a:rPr lang="fr-FR" sz="2400" b="0" i="1" smtClean="0">
                          <a:latin typeface="Cambria Math" panose="02040503050406030204" pitchFamily="18" charset="0"/>
                        </a:rPr>
                        <m:t>−</m:t>
                      </m:r>
                      <m:r>
                        <a:rPr lang="fr-FR" sz="2400" b="0" i="1" smtClean="0">
                          <a:latin typeface="Cambria Math" panose="02040503050406030204" pitchFamily="18" charset="0"/>
                        </a:rPr>
                        <m:t>𝛼</m:t>
                      </m:r>
                      <m:sSub>
                        <m:sSubPr>
                          <m:ctrlPr>
                            <a:rPr lang="fr-FR" sz="2400" b="1" i="1" smtClean="0">
                              <a:latin typeface="Cambria Math" panose="02040503050406030204" pitchFamily="18" charset="0"/>
                              <a:ea typeface="Cambria Math" panose="02040503050406030204" pitchFamily="18" charset="0"/>
                            </a:rPr>
                          </m:ctrlPr>
                        </m:sSubPr>
                        <m:e>
                          <m:r>
                            <a:rPr lang="fr-FR" sz="2400" b="1" i="1" smtClean="0">
                              <a:latin typeface="Cambria Math" panose="02040503050406030204" pitchFamily="18" charset="0"/>
                              <a:ea typeface="Cambria Math" panose="02040503050406030204" pitchFamily="18" charset="0"/>
                            </a:rPr>
                            <m:t>𝜵</m:t>
                          </m:r>
                        </m:e>
                        <m:sub>
                          <m:r>
                            <a:rPr lang="fr-FR" sz="2400" b="1" i="1" smtClean="0">
                              <a:latin typeface="Cambria Math" panose="02040503050406030204" pitchFamily="18" charset="0"/>
                              <a:ea typeface="Cambria Math" panose="02040503050406030204" pitchFamily="18" charset="0"/>
                            </a:rPr>
                            <m:t>𝑾</m:t>
                          </m:r>
                        </m:sub>
                      </m:sSub>
                      <m:r>
                        <a:rPr lang="fr-FR" sz="2400" b="1" i="1" smtClean="0">
                          <a:latin typeface="Cambria Math" panose="02040503050406030204" pitchFamily="18" charset="0"/>
                          <a:ea typeface="Cambria Math" panose="02040503050406030204" pitchFamily="18" charset="0"/>
                        </a:rPr>
                        <m:t>𝑱</m:t>
                      </m:r>
                    </m:oMath>
                  </m:oMathPara>
                </a14:m>
                <a:endParaRPr lang="en-US" sz="2400" b="1" dirty="0"/>
              </a:p>
            </p:txBody>
          </p:sp>
        </mc:Choice>
        <mc:Fallback>
          <p:sp>
            <p:nvSpPr>
              <p:cNvPr id="5" name="ZoneTexte 4">
                <a:extLst>
                  <a:ext uri="{FF2B5EF4-FFF2-40B4-BE49-F238E27FC236}">
                    <a16:creationId xmlns:a16="http://schemas.microsoft.com/office/drawing/2014/main" id="{6C1185F0-9547-007C-2C0E-DD842EAEF89D}"/>
                  </a:ext>
                </a:extLst>
              </p:cNvPr>
              <p:cNvSpPr txBox="1">
                <a:spLocks noRot="1" noChangeAspect="1" noMove="1" noResize="1" noEditPoints="1" noAdjustHandles="1" noChangeArrowheads="1" noChangeShapeType="1" noTextEdit="1"/>
              </p:cNvSpPr>
              <p:nvPr/>
            </p:nvSpPr>
            <p:spPr>
              <a:xfrm>
                <a:off x="1052424" y="1391764"/>
                <a:ext cx="3053208" cy="369332"/>
              </a:xfrm>
              <a:prstGeom prst="rect">
                <a:avLst/>
              </a:prstGeom>
              <a:blipFill>
                <a:blip r:embed="rId6"/>
                <a:stretch>
                  <a:fillRect l="-2000" r="-3000" b="-27869"/>
                </a:stretch>
              </a:blipFill>
            </p:spPr>
            <p:txBody>
              <a:bodyPr/>
              <a:lstStyle/>
              <a:p>
                <a:r>
                  <a:rPr lang="en-US">
                    <a:noFill/>
                  </a:rPr>
                  <a:t> </a:t>
                </a:r>
              </a:p>
            </p:txBody>
          </p:sp>
        </mc:Fallback>
      </mc:AlternateContent>
    </p:spTree>
    <p:extLst>
      <p:ext uri="{BB962C8B-B14F-4D97-AF65-F5344CB8AC3E}">
        <p14:creationId xmlns:p14="http://schemas.microsoft.com/office/powerpoint/2010/main" val="2078495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16</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Backward Propagation : Regularization</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 name="Espace réservé du contenu 2">
            <a:extLst>
              <a:ext uri="{FF2B5EF4-FFF2-40B4-BE49-F238E27FC236}">
                <a16:creationId xmlns:a16="http://schemas.microsoft.com/office/drawing/2014/main" id="{01B896DC-9F64-077C-FF27-BBAC9172EF9D}"/>
              </a:ext>
            </a:extLst>
          </p:cNvPr>
          <p:cNvSpPr>
            <a:spLocks noGrp="1"/>
          </p:cNvSpPr>
          <p:nvPr>
            <p:ph idx="1"/>
          </p:nvPr>
        </p:nvSpPr>
        <p:spPr>
          <a:xfrm>
            <a:off x="5167031" y="1708345"/>
            <a:ext cx="7012106" cy="3750904"/>
          </a:xfrm>
        </p:spPr>
        <p:txBody>
          <a:bodyPr>
            <a:normAutofit/>
          </a:bodyPr>
          <a:lstStyle/>
          <a:p>
            <a:pPr lvl="1" algn="just"/>
            <a:r>
              <a:rPr lang="en-US" dirty="0"/>
              <a:t>Adam combines gradient information with moving averages (momentum-like terms) and adaptive learning rates. </a:t>
            </a:r>
          </a:p>
          <a:p>
            <a:pPr lvl="1" algn="just"/>
            <a:r>
              <a:rPr lang="en-US" dirty="0"/>
              <a:t>Key training concepts:</a:t>
            </a:r>
          </a:p>
          <a:p>
            <a:pPr lvl="2" algn="just"/>
            <a:r>
              <a:rPr lang="en-US" dirty="0"/>
              <a:t>Learning rate: step size used to update parameters</a:t>
            </a:r>
          </a:p>
          <a:p>
            <a:pPr lvl="2" algn="just"/>
            <a:r>
              <a:rPr lang="en-US" dirty="0"/>
              <a:t>Batch: a small subset of training samples</a:t>
            </a:r>
          </a:p>
          <a:p>
            <a:pPr lvl="2" algn="just"/>
            <a:r>
              <a:rPr lang="en-US" dirty="0"/>
              <a:t>Epoch: one full pass through the training dataset</a:t>
            </a:r>
          </a:p>
          <a:p>
            <a:pPr lvl="1" algn="just"/>
            <a:r>
              <a:rPr lang="en-US" dirty="0"/>
              <a:t>Regularization helps prevent overfitting, fast weight adjustment and smooth the loss surface : L1/L2 (weight decay), dropout, early stopping, …</a:t>
            </a:r>
          </a:p>
        </p:txBody>
      </p:sp>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dirty="0"/>
              <a:t>Optimization and Regularization</a:t>
            </a:r>
            <a:br>
              <a:rPr lang="en-US" dirty="0"/>
            </a:br>
            <a:r>
              <a:rPr lang="en-US" sz="2400" dirty="0">
                <a:solidFill>
                  <a:srgbClr val="324B85"/>
                </a:solidFill>
                <a:cs typeface="Helvetica" panose="020B0604020202020204" pitchFamily="34" charset="0"/>
              </a:rPr>
              <a:t>Building Blocks of Deep Learning</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2" name="Image 1">
            <a:extLst>
              <a:ext uri="{FF2B5EF4-FFF2-40B4-BE49-F238E27FC236}">
                <a16:creationId xmlns:a16="http://schemas.microsoft.com/office/drawing/2014/main" id="{A5F4525A-C0DA-8542-EA01-32859344A6FB}"/>
              </a:ext>
            </a:extLst>
          </p:cNvPr>
          <p:cNvPicPr>
            <a:picLocks noChangeAspect="1"/>
          </p:cNvPicPr>
          <p:nvPr/>
        </p:nvPicPr>
        <p:blipFill>
          <a:blip r:embed="rId5"/>
          <a:stretch>
            <a:fillRect/>
          </a:stretch>
        </p:blipFill>
        <p:spPr>
          <a:xfrm>
            <a:off x="258618" y="3362576"/>
            <a:ext cx="5086387" cy="3009922"/>
          </a:xfrm>
          <a:prstGeom prst="rect">
            <a:avLst/>
          </a:prstGeom>
        </p:spPr>
      </p:pic>
      <p:pic>
        <p:nvPicPr>
          <p:cNvPr id="5" name="Image 4">
            <a:extLst>
              <a:ext uri="{FF2B5EF4-FFF2-40B4-BE49-F238E27FC236}">
                <a16:creationId xmlns:a16="http://schemas.microsoft.com/office/drawing/2014/main" id="{C53C9B57-0505-2597-614B-5FA80A376BC7}"/>
              </a:ext>
            </a:extLst>
          </p:cNvPr>
          <p:cNvPicPr>
            <a:picLocks noChangeAspect="1"/>
          </p:cNvPicPr>
          <p:nvPr/>
        </p:nvPicPr>
        <p:blipFill>
          <a:blip r:embed="rId6"/>
          <a:stretch>
            <a:fillRect/>
          </a:stretch>
        </p:blipFill>
        <p:spPr>
          <a:xfrm>
            <a:off x="755397" y="1286986"/>
            <a:ext cx="4411634" cy="2296811"/>
          </a:xfrm>
          <a:prstGeom prst="rect">
            <a:avLst/>
          </a:prstGeom>
        </p:spPr>
      </p:pic>
    </p:spTree>
    <p:extLst>
      <p:ext uri="{BB962C8B-B14F-4D97-AF65-F5344CB8AC3E}">
        <p14:creationId xmlns:p14="http://schemas.microsoft.com/office/powerpoint/2010/main" val="3847230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sp>
        <p:nvSpPr>
          <p:cNvPr id="8" name="Titre 7">
            <a:extLst>
              <a:ext uri="{FF2B5EF4-FFF2-40B4-BE49-F238E27FC236}">
                <a16:creationId xmlns:a16="http://schemas.microsoft.com/office/drawing/2014/main" id="{4B3E0621-DFEA-2EFA-E2DF-5B58DB2F607A}"/>
              </a:ext>
            </a:extLst>
          </p:cNvPr>
          <p:cNvSpPr>
            <a:spLocks noGrp="1"/>
          </p:cNvSpPr>
          <p:nvPr>
            <p:ph type="title"/>
          </p:nvPr>
        </p:nvSpPr>
        <p:spPr>
          <a:xfrm>
            <a:off x="2514819" y="2766218"/>
            <a:ext cx="7162361" cy="1325563"/>
          </a:xfrm>
        </p:spPr>
        <p:txBody>
          <a:bodyPr/>
          <a:lstStyle/>
          <a:p>
            <a:pPr algn="ctr"/>
            <a:r>
              <a:rPr lang="en-US" b="1" dirty="0"/>
              <a:t>Evaluation</a:t>
            </a:r>
          </a:p>
        </p:txBody>
      </p:sp>
    </p:spTree>
    <p:extLst>
      <p:ext uri="{BB962C8B-B14F-4D97-AF65-F5344CB8AC3E}">
        <p14:creationId xmlns:p14="http://schemas.microsoft.com/office/powerpoint/2010/main" val="3046856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18</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Evaluation : Final Model &amp; </a:t>
            </a:r>
            <a:r>
              <a:rPr lang="en-US" sz="1600" dirty="0" err="1">
                <a:solidFill>
                  <a:schemeClr val="bg1"/>
                </a:solidFill>
              </a:rPr>
              <a:t>GridSearch</a:t>
            </a:r>
            <a:endParaRPr lang="en-US" sz="1600" dirty="0">
              <a:solidFill>
                <a:schemeClr val="bg1"/>
              </a:solidFill>
            </a:endParaRP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 name="Espace réservé du contenu 2">
            <a:extLst>
              <a:ext uri="{FF2B5EF4-FFF2-40B4-BE49-F238E27FC236}">
                <a16:creationId xmlns:a16="http://schemas.microsoft.com/office/drawing/2014/main" id="{01B896DC-9F64-077C-FF27-BBAC9172EF9D}"/>
              </a:ext>
            </a:extLst>
          </p:cNvPr>
          <p:cNvSpPr>
            <a:spLocks noGrp="1"/>
          </p:cNvSpPr>
          <p:nvPr>
            <p:ph idx="1"/>
          </p:nvPr>
        </p:nvSpPr>
        <p:spPr>
          <a:xfrm>
            <a:off x="-98249" y="1376835"/>
            <a:ext cx="7832435" cy="4777734"/>
          </a:xfrm>
        </p:spPr>
        <p:txBody>
          <a:bodyPr>
            <a:normAutofit/>
          </a:bodyPr>
          <a:lstStyle/>
          <a:p>
            <a:pPr lvl="1" algn="just"/>
            <a:r>
              <a:rPr lang="en-US" dirty="0"/>
              <a:t>To define the final model, we choose design criteria based on the objective.</a:t>
            </a:r>
          </a:p>
          <a:p>
            <a:pPr lvl="1" algn="just"/>
            <a:r>
              <a:rPr lang="en-US" dirty="0"/>
              <a:t>A common diagnostic is the loss curve: lower loss often indicates a better fit (but not always better generalization).</a:t>
            </a:r>
          </a:p>
          <a:p>
            <a:pPr lvl="1" algn="just"/>
            <a:r>
              <a:rPr lang="en-US" dirty="0"/>
              <a:t>We typically split the data into train, validation, and test subsets.</a:t>
            </a:r>
          </a:p>
          <a:p>
            <a:pPr lvl="1" algn="just"/>
            <a:r>
              <a:rPr lang="en-US" dirty="0"/>
              <a:t>Learned Parameters : Weights and Biases</a:t>
            </a:r>
          </a:p>
          <a:p>
            <a:pPr lvl="1" algn="just"/>
            <a:r>
              <a:rPr lang="en-US" dirty="0"/>
              <a:t>Hyperparameters (chosen): learning rate, batch size, weight decay, …</a:t>
            </a:r>
          </a:p>
          <a:p>
            <a:pPr lvl="1" algn="just"/>
            <a:r>
              <a:rPr lang="en-US" dirty="0"/>
              <a:t>We search for good hyperparameters using methods such as grid search and hyperparameter tuning.</a:t>
            </a:r>
          </a:p>
          <a:p>
            <a:pPr lvl="1" algn="just"/>
            <a:r>
              <a:rPr lang="en-US" dirty="0"/>
              <a:t>Main drawback: computational cost (time).</a:t>
            </a:r>
          </a:p>
        </p:txBody>
      </p:sp>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dirty="0"/>
              <a:t>Final Model</a:t>
            </a:r>
            <a:br>
              <a:rPr lang="en-US" dirty="0"/>
            </a:br>
            <a:r>
              <a:rPr lang="en-US" sz="2400" dirty="0">
                <a:solidFill>
                  <a:srgbClr val="324B85"/>
                </a:solidFill>
                <a:cs typeface="Helvetica" panose="020B0604020202020204" pitchFamily="34" charset="0"/>
              </a:rPr>
              <a:t>Evaluation</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2" name="Image 1">
            <a:extLst>
              <a:ext uri="{FF2B5EF4-FFF2-40B4-BE49-F238E27FC236}">
                <a16:creationId xmlns:a16="http://schemas.microsoft.com/office/drawing/2014/main" id="{9EBA8D28-E346-2FF5-1C71-210850557F51}"/>
              </a:ext>
            </a:extLst>
          </p:cNvPr>
          <p:cNvPicPr>
            <a:picLocks noChangeAspect="1"/>
          </p:cNvPicPr>
          <p:nvPr/>
        </p:nvPicPr>
        <p:blipFill>
          <a:blip r:embed="rId5"/>
          <a:stretch>
            <a:fillRect/>
          </a:stretch>
        </p:blipFill>
        <p:spPr>
          <a:xfrm>
            <a:off x="7734186" y="2050300"/>
            <a:ext cx="4423523" cy="3129407"/>
          </a:xfrm>
          <a:prstGeom prst="rect">
            <a:avLst/>
          </a:prstGeom>
        </p:spPr>
      </p:pic>
    </p:spTree>
    <p:extLst>
      <p:ext uri="{BB962C8B-B14F-4D97-AF65-F5344CB8AC3E}">
        <p14:creationId xmlns:p14="http://schemas.microsoft.com/office/powerpoint/2010/main" val="544826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19</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Evaluation : Error Metrics</a:t>
            </a: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 name="Espace réservé du contenu 2">
            <a:extLst>
              <a:ext uri="{FF2B5EF4-FFF2-40B4-BE49-F238E27FC236}">
                <a16:creationId xmlns:a16="http://schemas.microsoft.com/office/drawing/2014/main" id="{01B896DC-9F64-077C-FF27-BBAC9172EF9D}"/>
              </a:ext>
            </a:extLst>
          </p:cNvPr>
          <p:cNvSpPr>
            <a:spLocks noGrp="1"/>
          </p:cNvSpPr>
          <p:nvPr>
            <p:ph idx="1"/>
          </p:nvPr>
        </p:nvSpPr>
        <p:spPr>
          <a:xfrm>
            <a:off x="170822" y="1270116"/>
            <a:ext cx="11509343" cy="1603714"/>
          </a:xfrm>
        </p:spPr>
        <p:txBody>
          <a:bodyPr>
            <a:normAutofit/>
          </a:bodyPr>
          <a:lstStyle/>
          <a:p>
            <a:pPr lvl="1" algn="just"/>
            <a:r>
              <a:rPr lang="en-US" dirty="0"/>
              <a:t>Beyond the loss, we use evaluation metrics and diagnostic plots.</a:t>
            </a:r>
          </a:p>
          <a:p>
            <a:pPr lvl="1" algn="just"/>
            <a:r>
              <a:rPr lang="en-US" dirty="0"/>
              <a:t>The choice of metric depends on the task: classification, regression, or probability estimation.</a:t>
            </a:r>
          </a:p>
        </p:txBody>
      </p:sp>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447085" cy="993045"/>
          </a:xfrm>
        </p:spPr>
        <p:txBody>
          <a:bodyPr anchor="t">
            <a:normAutofit fontScale="90000"/>
          </a:bodyPr>
          <a:lstStyle/>
          <a:p>
            <a:r>
              <a:rPr lang="en-US" dirty="0"/>
              <a:t>Error Metrics</a:t>
            </a:r>
            <a:br>
              <a:rPr lang="en-US" dirty="0"/>
            </a:br>
            <a:r>
              <a:rPr lang="en-US" sz="2400" dirty="0">
                <a:solidFill>
                  <a:srgbClr val="324B85"/>
                </a:solidFill>
                <a:cs typeface="Helvetica" panose="020B0604020202020204" pitchFamily="34" charset="0"/>
              </a:rPr>
              <a:t>Evaluation</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5" name="Image 4">
            <a:extLst>
              <a:ext uri="{FF2B5EF4-FFF2-40B4-BE49-F238E27FC236}">
                <a16:creationId xmlns:a16="http://schemas.microsoft.com/office/drawing/2014/main" id="{5E085A1D-BA58-D242-618A-1696F930555E}"/>
              </a:ext>
            </a:extLst>
          </p:cNvPr>
          <p:cNvPicPr>
            <a:picLocks noChangeAspect="1"/>
          </p:cNvPicPr>
          <p:nvPr/>
        </p:nvPicPr>
        <p:blipFill>
          <a:blip r:embed="rId5"/>
          <a:stretch>
            <a:fillRect/>
          </a:stretch>
        </p:blipFill>
        <p:spPr>
          <a:xfrm>
            <a:off x="574989" y="3817619"/>
            <a:ext cx="5725638" cy="652122"/>
          </a:xfrm>
          <a:prstGeom prst="rect">
            <a:avLst/>
          </a:prstGeom>
        </p:spPr>
      </p:pic>
      <p:pic>
        <p:nvPicPr>
          <p:cNvPr id="7" name="Image 6">
            <a:extLst>
              <a:ext uri="{FF2B5EF4-FFF2-40B4-BE49-F238E27FC236}">
                <a16:creationId xmlns:a16="http://schemas.microsoft.com/office/drawing/2014/main" id="{E33141F8-0DC2-F4B2-2AA2-A1CE04913D3E}"/>
              </a:ext>
            </a:extLst>
          </p:cNvPr>
          <p:cNvPicPr>
            <a:picLocks noChangeAspect="1"/>
          </p:cNvPicPr>
          <p:nvPr/>
        </p:nvPicPr>
        <p:blipFill>
          <a:blip r:embed="rId6"/>
          <a:stretch>
            <a:fillRect/>
          </a:stretch>
        </p:blipFill>
        <p:spPr>
          <a:xfrm>
            <a:off x="6852322" y="3110737"/>
            <a:ext cx="3938822" cy="665166"/>
          </a:xfrm>
          <a:prstGeom prst="rect">
            <a:avLst/>
          </a:prstGeom>
        </p:spPr>
      </p:pic>
      <p:pic>
        <p:nvPicPr>
          <p:cNvPr id="9" name="Image 8">
            <a:extLst>
              <a:ext uri="{FF2B5EF4-FFF2-40B4-BE49-F238E27FC236}">
                <a16:creationId xmlns:a16="http://schemas.microsoft.com/office/drawing/2014/main" id="{B68199F9-63C8-2224-1749-424F0199F832}"/>
              </a:ext>
            </a:extLst>
          </p:cNvPr>
          <p:cNvPicPr>
            <a:picLocks noChangeAspect="1"/>
          </p:cNvPicPr>
          <p:nvPr/>
        </p:nvPicPr>
        <p:blipFill>
          <a:blip r:embed="rId7"/>
          <a:stretch>
            <a:fillRect/>
          </a:stretch>
        </p:blipFill>
        <p:spPr>
          <a:xfrm>
            <a:off x="7027013" y="4003447"/>
            <a:ext cx="3482335" cy="847760"/>
          </a:xfrm>
          <a:prstGeom prst="rect">
            <a:avLst/>
          </a:prstGeom>
        </p:spPr>
      </p:pic>
      <p:pic>
        <p:nvPicPr>
          <p:cNvPr id="11" name="Image 10">
            <a:extLst>
              <a:ext uri="{FF2B5EF4-FFF2-40B4-BE49-F238E27FC236}">
                <a16:creationId xmlns:a16="http://schemas.microsoft.com/office/drawing/2014/main" id="{D23C04E7-15A6-88CA-51BE-B8D5B85C0403}"/>
              </a:ext>
            </a:extLst>
          </p:cNvPr>
          <p:cNvPicPr>
            <a:picLocks noChangeAspect="1"/>
          </p:cNvPicPr>
          <p:nvPr/>
        </p:nvPicPr>
        <p:blipFill>
          <a:blip r:embed="rId8"/>
          <a:stretch>
            <a:fillRect/>
          </a:stretch>
        </p:blipFill>
        <p:spPr>
          <a:xfrm>
            <a:off x="6852322" y="5013097"/>
            <a:ext cx="3717098" cy="965141"/>
          </a:xfrm>
          <a:prstGeom prst="rect">
            <a:avLst/>
          </a:prstGeom>
        </p:spPr>
      </p:pic>
      <p:pic>
        <p:nvPicPr>
          <p:cNvPr id="13" name="Image 12">
            <a:extLst>
              <a:ext uri="{FF2B5EF4-FFF2-40B4-BE49-F238E27FC236}">
                <a16:creationId xmlns:a16="http://schemas.microsoft.com/office/drawing/2014/main" id="{E115E042-D53A-FB58-E9F2-E30704C8926F}"/>
              </a:ext>
            </a:extLst>
          </p:cNvPr>
          <p:cNvPicPr>
            <a:picLocks noChangeAspect="1"/>
          </p:cNvPicPr>
          <p:nvPr/>
        </p:nvPicPr>
        <p:blipFill>
          <a:blip r:embed="rId9"/>
          <a:stretch>
            <a:fillRect/>
          </a:stretch>
        </p:blipFill>
        <p:spPr>
          <a:xfrm>
            <a:off x="1103209" y="4641414"/>
            <a:ext cx="4669198" cy="678208"/>
          </a:xfrm>
          <a:prstGeom prst="rect">
            <a:avLst/>
          </a:prstGeom>
        </p:spPr>
      </p:pic>
    </p:spTree>
    <p:extLst>
      <p:ext uri="{BB962C8B-B14F-4D97-AF65-F5344CB8AC3E}">
        <p14:creationId xmlns:p14="http://schemas.microsoft.com/office/powerpoint/2010/main" val="1772150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20</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Evaluation : Final Model &amp; </a:t>
            </a:r>
            <a:r>
              <a:rPr lang="en-US" sz="1600" dirty="0" err="1">
                <a:solidFill>
                  <a:schemeClr val="bg1"/>
                </a:solidFill>
              </a:rPr>
              <a:t>GridSearch</a:t>
            </a:r>
            <a:endParaRPr lang="en-US" sz="1600" dirty="0">
              <a:solidFill>
                <a:schemeClr val="bg1"/>
              </a:solidFill>
            </a:endParaRP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 name="Espace réservé du contenu 2">
            <a:extLst>
              <a:ext uri="{FF2B5EF4-FFF2-40B4-BE49-F238E27FC236}">
                <a16:creationId xmlns:a16="http://schemas.microsoft.com/office/drawing/2014/main" id="{01B896DC-9F64-077C-FF27-BBAC9172EF9D}"/>
              </a:ext>
            </a:extLst>
          </p:cNvPr>
          <p:cNvSpPr>
            <a:spLocks noGrp="1"/>
          </p:cNvSpPr>
          <p:nvPr>
            <p:ph idx="1"/>
          </p:nvPr>
        </p:nvSpPr>
        <p:spPr>
          <a:xfrm>
            <a:off x="5492080" y="1541109"/>
            <a:ext cx="6492772" cy="4032255"/>
          </a:xfrm>
        </p:spPr>
        <p:txBody>
          <a:bodyPr>
            <a:normAutofit/>
          </a:bodyPr>
          <a:lstStyle/>
          <a:p>
            <a:pPr lvl="1" algn="just"/>
            <a:r>
              <a:rPr lang="en-US" dirty="0"/>
              <a:t>A major challenge in deep learning is underfitting vs overfitting.</a:t>
            </a:r>
          </a:p>
          <a:p>
            <a:pPr lvl="2" algn="just"/>
            <a:r>
              <a:rPr lang="en-US" dirty="0"/>
              <a:t>Underfitting: high bias (model too simple; performs poorly even on training data) (Human perf. - prediction)</a:t>
            </a:r>
          </a:p>
          <a:p>
            <a:pPr lvl="2" algn="just"/>
            <a:r>
              <a:rPr lang="en-US" dirty="0"/>
              <a:t>Overfitting: high variance (model fits training data well but generalizes poorly) (Validation - prediction)</a:t>
            </a:r>
          </a:p>
          <a:p>
            <a:pPr lvl="2" algn="just"/>
            <a:r>
              <a:rPr lang="en-US" dirty="0"/>
              <a:t>Optimal : low bias, low variance. (Between both)</a:t>
            </a:r>
          </a:p>
          <a:p>
            <a:pPr lvl="1" algn="just"/>
            <a:r>
              <a:rPr lang="en-US" dirty="0"/>
              <a:t>We diagnose this using learning curves (loss vs epochs).</a:t>
            </a:r>
          </a:p>
          <a:p>
            <a:pPr lvl="1" algn="just"/>
            <a:r>
              <a:rPr lang="en-US" dirty="0"/>
              <a:t>Related tools: validation curves, error curves.</a:t>
            </a:r>
          </a:p>
        </p:txBody>
      </p:sp>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996935" cy="993045"/>
          </a:xfrm>
        </p:spPr>
        <p:txBody>
          <a:bodyPr anchor="t">
            <a:normAutofit fontScale="90000"/>
          </a:bodyPr>
          <a:lstStyle/>
          <a:p>
            <a:r>
              <a:rPr lang="en-US" dirty="0"/>
              <a:t>Learning Curves &amp; Under/ Overfitting</a:t>
            </a:r>
            <a:br>
              <a:rPr lang="en-US" dirty="0"/>
            </a:br>
            <a:r>
              <a:rPr lang="en-US" sz="2400" dirty="0">
                <a:solidFill>
                  <a:srgbClr val="324B85"/>
                </a:solidFill>
                <a:cs typeface="Helvetica" panose="020B0604020202020204" pitchFamily="34" charset="0"/>
              </a:rPr>
              <a:t>Evaluation</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7" name="Image 6">
            <a:extLst>
              <a:ext uri="{FF2B5EF4-FFF2-40B4-BE49-F238E27FC236}">
                <a16:creationId xmlns:a16="http://schemas.microsoft.com/office/drawing/2014/main" id="{D794CCEA-99A8-EA7C-D8BD-A6A9CBB32CC1}"/>
              </a:ext>
            </a:extLst>
          </p:cNvPr>
          <p:cNvPicPr>
            <a:picLocks noChangeAspect="1"/>
          </p:cNvPicPr>
          <p:nvPr/>
        </p:nvPicPr>
        <p:blipFill>
          <a:blip r:embed="rId5"/>
          <a:srcRect t="412"/>
          <a:stretch/>
        </p:blipFill>
        <p:spPr>
          <a:xfrm>
            <a:off x="465826" y="2115191"/>
            <a:ext cx="5284932" cy="2884093"/>
          </a:xfrm>
          <a:prstGeom prst="rect">
            <a:avLst/>
          </a:prstGeom>
        </p:spPr>
      </p:pic>
    </p:spTree>
    <p:extLst>
      <p:ext uri="{BB962C8B-B14F-4D97-AF65-F5344CB8AC3E}">
        <p14:creationId xmlns:p14="http://schemas.microsoft.com/office/powerpoint/2010/main" val="2395840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86EF47-7B9C-486E-8F58-2994440D36B9}"/>
              </a:ext>
            </a:extLst>
          </p:cNvPr>
          <p:cNvSpPr/>
          <p:nvPr/>
        </p:nvSpPr>
        <p:spPr>
          <a:xfrm>
            <a:off x="0" y="6422065"/>
            <a:ext cx="12192000" cy="43593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Espace réservé du numéro de diapositive 4">
            <a:extLst>
              <a:ext uri="{FF2B5EF4-FFF2-40B4-BE49-F238E27FC236}">
                <a16:creationId xmlns:a16="http://schemas.microsoft.com/office/drawing/2014/main" id="{CA516039-7E6F-423F-94F4-6E5F2D542816}"/>
              </a:ext>
            </a:extLst>
          </p:cNvPr>
          <p:cNvSpPr>
            <a:spLocks noGrp="1"/>
          </p:cNvSpPr>
          <p:nvPr>
            <p:ph type="sldNum" sz="quarter" idx="12"/>
          </p:nvPr>
        </p:nvSpPr>
        <p:spPr>
          <a:xfrm>
            <a:off x="9195150" y="6461811"/>
            <a:ext cx="2743200" cy="365125"/>
          </a:xfrm>
        </p:spPr>
        <p:txBody>
          <a:bodyPr/>
          <a:lstStyle/>
          <a:p>
            <a:fld id="{9743121C-F27F-4BFE-A61A-B2E716B8BFF2}" type="slidenum">
              <a:rPr lang="en-US" sz="1600" smtClean="0">
                <a:solidFill>
                  <a:schemeClr val="bg1"/>
                </a:solidFill>
              </a:rPr>
              <a:t>21</a:t>
            </a:fld>
            <a:r>
              <a:rPr lang="en-US" sz="1600" dirty="0">
                <a:solidFill>
                  <a:schemeClr val="bg1"/>
                </a:solidFill>
              </a:rPr>
              <a:t>/25</a:t>
            </a:r>
          </a:p>
        </p:txBody>
      </p:sp>
      <p:sp>
        <p:nvSpPr>
          <p:cNvPr id="33" name="Rectangle 32">
            <a:extLst>
              <a:ext uri="{FF2B5EF4-FFF2-40B4-BE49-F238E27FC236}">
                <a16:creationId xmlns:a16="http://schemas.microsoft.com/office/drawing/2014/main" id="{1360A3D3-D69D-4EB5-ABAF-066D7D885294}"/>
              </a:ext>
            </a:extLst>
          </p:cNvPr>
          <p:cNvSpPr/>
          <p:nvPr/>
        </p:nvSpPr>
        <p:spPr>
          <a:xfrm>
            <a:off x="258618" y="147596"/>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9CCB300D-CE91-4582-B249-5B730D5369DA}"/>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EADA279D-CBF1-46AF-ABFF-F5EC88D2227B}"/>
              </a:ext>
            </a:extLst>
          </p:cNvPr>
          <p:cNvSpPr txBox="1"/>
          <p:nvPr/>
        </p:nvSpPr>
        <p:spPr>
          <a:xfrm>
            <a:off x="258618" y="6460595"/>
            <a:ext cx="11283142" cy="338554"/>
          </a:xfrm>
          <a:prstGeom prst="rect">
            <a:avLst/>
          </a:prstGeom>
          <a:noFill/>
        </p:spPr>
        <p:txBody>
          <a:bodyPr wrap="square" rtlCol="0">
            <a:spAutoFit/>
          </a:bodyPr>
          <a:lstStyle/>
          <a:p>
            <a:r>
              <a:rPr lang="en-US" sz="1600" dirty="0">
                <a:solidFill>
                  <a:schemeClr val="bg1"/>
                </a:solidFill>
              </a:rPr>
              <a:t>Evaluation : Final Model &amp; </a:t>
            </a:r>
            <a:r>
              <a:rPr lang="en-US" sz="1600" dirty="0" err="1">
                <a:solidFill>
                  <a:schemeClr val="bg1"/>
                </a:solidFill>
              </a:rPr>
              <a:t>GridSearch</a:t>
            </a:r>
            <a:endParaRPr lang="en-US" sz="1600" dirty="0">
              <a:solidFill>
                <a:schemeClr val="bg1"/>
              </a:solidFill>
            </a:endParaRPr>
          </a:p>
        </p:txBody>
      </p:sp>
      <p:pic>
        <p:nvPicPr>
          <p:cNvPr id="47" name="Image 46">
            <a:extLst>
              <a:ext uri="{FF2B5EF4-FFF2-40B4-BE49-F238E27FC236}">
                <a16:creationId xmlns:a16="http://schemas.microsoft.com/office/drawing/2014/main" id="{B9587BF1-DFDE-4E4B-A3DD-8BA2978655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6155" y="-52693"/>
            <a:ext cx="2115845" cy="1182435"/>
          </a:xfrm>
          <a:prstGeom prst="rect">
            <a:avLst/>
          </a:prstGeom>
          <a:ln>
            <a:noFill/>
          </a:ln>
        </p:spPr>
      </p:pic>
      <p:sp>
        <p:nvSpPr>
          <p:cNvPr id="36" name="Título 1">
            <a:extLst>
              <a:ext uri="{FF2B5EF4-FFF2-40B4-BE49-F238E27FC236}">
                <a16:creationId xmlns:a16="http://schemas.microsoft.com/office/drawing/2014/main" id="{EDDA5206-534E-4288-8D5C-B47EF93CF1EB}"/>
              </a:ext>
            </a:extLst>
          </p:cNvPr>
          <p:cNvSpPr>
            <a:spLocks noGrp="1"/>
          </p:cNvSpPr>
          <p:nvPr>
            <p:ph type="title"/>
          </p:nvPr>
        </p:nvSpPr>
        <p:spPr>
          <a:xfrm>
            <a:off x="1949013" y="189390"/>
            <a:ext cx="7996935" cy="993045"/>
          </a:xfrm>
        </p:spPr>
        <p:txBody>
          <a:bodyPr anchor="t">
            <a:normAutofit fontScale="90000"/>
          </a:bodyPr>
          <a:lstStyle/>
          <a:p>
            <a:r>
              <a:rPr lang="en-US" dirty="0"/>
              <a:t>Learning Curves &amp; Under/ Overfitting</a:t>
            </a:r>
            <a:br>
              <a:rPr lang="en-US" dirty="0"/>
            </a:br>
            <a:r>
              <a:rPr lang="en-US" sz="2400" dirty="0">
                <a:solidFill>
                  <a:srgbClr val="324B85"/>
                </a:solidFill>
                <a:cs typeface="Helvetica" panose="020B0604020202020204" pitchFamily="34" charset="0"/>
              </a:rPr>
              <a:t>Evaluation</a:t>
            </a:r>
            <a:endParaRPr lang="en-US" sz="2400" dirty="0">
              <a:solidFill>
                <a:srgbClr val="324B85"/>
              </a:solidFill>
            </a:endParaRPr>
          </a:p>
        </p:txBody>
      </p:sp>
      <p:pic>
        <p:nvPicPr>
          <p:cNvPr id="4" name="Image 3">
            <a:extLst>
              <a:ext uri="{FF2B5EF4-FFF2-40B4-BE49-F238E27FC236}">
                <a16:creationId xmlns:a16="http://schemas.microsoft.com/office/drawing/2014/main" id="{FC1256DB-1AA1-5858-1600-B76DAC8286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207148" y="147596"/>
            <a:ext cx="1573586" cy="1084406"/>
          </a:xfrm>
          <a:prstGeom prst="rect">
            <a:avLst/>
          </a:prstGeom>
        </p:spPr>
      </p:pic>
      <p:pic>
        <p:nvPicPr>
          <p:cNvPr id="8" name="Image 7">
            <a:extLst>
              <a:ext uri="{FF2B5EF4-FFF2-40B4-BE49-F238E27FC236}">
                <a16:creationId xmlns:a16="http://schemas.microsoft.com/office/drawing/2014/main" id="{8FEE091A-505F-BA39-1B14-8FEB1D63C970}"/>
              </a:ext>
            </a:extLst>
          </p:cNvPr>
          <p:cNvPicPr>
            <a:picLocks noChangeAspect="1"/>
          </p:cNvPicPr>
          <p:nvPr/>
        </p:nvPicPr>
        <p:blipFill>
          <a:blip r:embed="rId5"/>
          <a:stretch>
            <a:fillRect/>
          </a:stretch>
        </p:blipFill>
        <p:spPr>
          <a:xfrm>
            <a:off x="258618" y="1843110"/>
            <a:ext cx="5179772" cy="3884829"/>
          </a:xfrm>
          <a:prstGeom prst="rect">
            <a:avLst/>
          </a:prstGeom>
        </p:spPr>
      </p:pic>
      <p:pic>
        <p:nvPicPr>
          <p:cNvPr id="9" name="Image 8">
            <a:extLst>
              <a:ext uri="{FF2B5EF4-FFF2-40B4-BE49-F238E27FC236}">
                <a16:creationId xmlns:a16="http://schemas.microsoft.com/office/drawing/2014/main" id="{7260F27E-F8D5-1E1C-0D9E-920B58D2A003}"/>
              </a:ext>
            </a:extLst>
          </p:cNvPr>
          <p:cNvPicPr>
            <a:picLocks noChangeAspect="1"/>
          </p:cNvPicPr>
          <p:nvPr/>
        </p:nvPicPr>
        <p:blipFill>
          <a:blip r:embed="rId6"/>
          <a:srcRect l="5236" t="6906" r="49094" b="3032"/>
          <a:stretch/>
        </p:blipFill>
        <p:spPr>
          <a:xfrm>
            <a:off x="6473216" y="1058173"/>
            <a:ext cx="4350060" cy="5147095"/>
          </a:xfrm>
          <a:prstGeom prst="rect">
            <a:avLst/>
          </a:prstGeom>
        </p:spPr>
      </p:pic>
    </p:spTree>
    <p:extLst>
      <p:ext uri="{BB962C8B-B14F-4D97-AF65-F5344CB8AC3E}">
        <p14:creationId xmlns:p14="http://schemas.microsoft.com/office/powerpoint/2010/main" val="626339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2201596"/>
            <a:ext cx="10515600" cy="2454808"/>
          </a:xfrm>
        </p:spPr>
        <p:txBody>
          <a:bodyPr>
            <a:noAutofit/>
          </a:bodyPr>
          <a:lstStyle/>
          <a:p>
            <a:pPr algn="ctr"/>
            <a:r>
              <a:rPr lang="es-ES" sz="4000" dirty="0" err="1"/>
              <a:t>Merci</a:t>
            </a:r>
            <a:r>
              <a:rPr lang="es-ES" sz="4000" dirty="0"/>
              <a:t> !</a:t>
            </a:r>
            <a:br>
              <a:rPr lang="es-ES" sz="4000" dirty="0"/>
            </a:br>
            <a:r>
              <a:rPr lang="es-ES" sz="4000" dirty="0" err="1"/>
              <a:t>Thank</a:t>
            </a:r>
            <a:r>
              <a:rPr lang="es-ES" sz="4000" dirty="0"/>
              <a:t> </a:t>
            </a:r>
            <a:r>
              <a:rPr lang="es-ES" sz="4000" dirty="0" err="1"/>
              <a:t>you</a:t>
            </a:r>
            <a:r>
              <a:rPr lang="es-ES" sz="4000" dirty="0"/>
              <a:t>!</a:t>
            </a:r>
            <a:br>
              <a:rPr lang="es-ES" sz="4000" dirty="0"/>
            </a:br>
            <a:r>
              <a:rPr lang="es-ES" sz="4000" dirty="0" err="1"/>
              <a:t>Obrigado</a:t>
            </a:r>
            <a:r>
              <a:rPr lang="es-ES" sz="4000" dirty="0"/>
              <a:t>!</a:t>
            </a:r>
            <a:br>
              <a:rPr lang="es-ES" sz="4000" dirty="0"/>
            </a:br>
            <a:r>
              <a:rPr lang="ja-JP" altLang="fr-FR" sz="4000" dirty="0"/>
              <a:t>谢谢 </a:t>
            </a:r>
            <a:r>
              <a:rPr lang="fr-FR" altLang="ja-JP" sz="4000" dirty="0"/>
              <a:t>!</a:t>
            </a:r>
            <a:endParaRPr lang="es-ES" sz="4000" dirty="0"/>
          </a:p>
        </p:txBody>
      </p:sp>
      <p:sp>
        <p:nvSpPr>
          <p:cNvPr id="12" name="ZoneTexte 11">
            <a:extLst>
              <a:ext uri="{FF2B5EF4-FFF2-40B4-BE49-F238E27FC236}">
                <a16:creationId xmlns:a16="http://schemas.microsoft.com/office/drawing/2014/main" id="{111E9EA9-4FCB-4AEA-85BF-DFB7C404CC0B}"/>
              </a:ext>
            </a:extLst>
          </p:cNvPr>
          <p:cNvSpPr txBox="1"/>
          <p:nvPr/>
        </p:nvSpPr>
        <p:spPr>
          <a:xfrm>
            <a:off x="289098" y="6460395"/>
            <a:ext cx="6826421" cy="369332"/>
          </a:xfrm>
          <a:prstGeom prst="rect">
            <a:avLst/>
          </a:prstGeom>
          <a:noFill/>
        </p:spPr>
        <p:txBody>
          <a:bodyPr wrap="none" rtlCol="0">
            <a:spAutoFit/>
          </a:bodyPr>
          <a:lstStyle/>
          <a:p>
            <a:r>
              <a:rPr lang="it-IT" dirty="0"/>
              <a:t>jose-antonio.miranda-mattei@insa-lyon.fr / songhao.gao@insa-lyon.fr </a:t>
            </a:r>
            <a:endParaRPr lang="fr-FR" dirty="0"/>
          </a:p>
        </p:txBody>
      </p:sp>
      <p:sp>
        <p:nvSpPr>
          <p:cNvPr id="9" name="Rectangle 8">
            <a:extLst>
              <a:ext uri="{FF2B5EF4-FFF2-40B4-BE49-F238E27FC236}">
                <a16:creationId xmlns:a16="http://schemas.microsoft.com/office/drawing/2014/main" id="{D0EF083A-539B-45A5-8521-88F999BC788B}"/>
              </a:ext>
            </a:extLst>
          </p:cNvPr>
          <p:cNvSpPr/>
          <p:nvPr/>
        </p:nvSpPr>
        <p:spPr>
          <a:xfrm>
            <a:off x="289098" y="154769"/>
            <a:ext cx="1903686"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E2383E97-BF02-49E0-BDBC-B16322B8BF2E}"/>
              </a:ext>
            </a:extLst>
          </p:cNvPr>
          <p:cNvSpPr/>
          <p:nvPr/>
        </p:nvSpPr>
        <p:spPr>
          <a:xfrm>
            <a:off x="9945948" y="94903"/>
            <a:ext cx="2038904" cy="1034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Image 12">
            <a:extLst>
              <a:ext uri="{FF2B5EF4-FFF2-40B4-BE49-F238E27FC236}">
                <a16:creationId xmlns:a16="http://schemas.microsoft.com/office/drawing/2014/main" id="{03F7370B-3812-4C52-893F-A18464280A4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24472" y="131306"/>
            <a:ext cx="1573586" cy="1084406"/>
          </a:xfrm>
          <a:prstGeom prst="rect">
            <a:avLst/>
          </a:prstGeom>
        </p:spPr>
      </p:pic>
      <p:pic>
        <p:nvPicPr>
          <p:cNvPr id="16" name="Image 15">
            <a:extLst>
              <a:ext uri="{FF2B5EF4-FFF2-40B4-BE49-F238E27FC236}">
                <a16:creationId xmlns:a16="http://schemas.microsoft.com/office/drawing/2014/main" id="{FB1BF1C6-C400-4EEE-A0CD-1B721C4EB6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76154" y="-8526"/>
            <a:ext cx="2115845" cy="1182435"/>
          </a:xfrm>
          <a:prstGeom prst="rect">
            <a:avLst/>
          </a:prstGeom>
          <a:ln>
            <a:noFill/>
          </a:ln>
        </p:spPr>
      </p:pic>
      <p:pic>
        <p:nvPicPr>
          <p:cNvPr id="17" name="Graphique 16">
            <a:extLst>
              <a:ext uri="{FF2B5EF4-FFF2-40B4-BE49-F238E27FC236}">
                <a16:creationId xmlns:a16="http://schemas.microsoft.com/office/drawing/2014/main" id="{4C7C3660-4F6D-496C-B24F-A9232C2684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47651" y="131306"/>
            <a:ext cx="2296698" cy="908340"/>
          </a:xfrm>
          <a:prstGeom prst="rect">
            <a:avLst/>
          </a:prstGeom>
        </p:spPr>
      </p:pic>
    </p:spTree>
    <p:extLst>
      <p:ext uri="{BB962C8B-B14F-4D97-AF65-F5344CB8AC3E}">
        <p14:creationId xmlns:p14="http://schemas.microsoft.com/office/powerpoint/2010/main" val="112469690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7171</TotalTime>
  <Words>2271</Words>
  <Application>Microsoft Office PowerPoint</Application>
  <PresentationFormat>Grand écran</PresentationFormat>
  <Paragraphs>204</Paragraphs>
  <Slides>22</Slides>
  <Notes>22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22</vt:i4>
      </vt:variant>
    </vt:vector>
  </HeadingPairs>
  <TitlesOfParts>
    <vt:vector size="28" baseType="lpstr">
      <vt:lpstr>Arial</vt:lpstr>
      <vt:lpstr>Calibri</vt:lpstr>
      <vt:lpstr>Calibri Light</vt:lpstr>
      <vt:lpstr>Cambria Math</vt:lpstr>
      <vt:lpstr>Helvetica</vt:lpstr>
      <vt:lpstr>Tema de Office</vt:lpstr>
      <vt:lpstr>Introduction to Deep Learning</vt:lpstr>
      <vt:lpstr>Table of Contents</vt:lpstr>
      <vt:lpstr>Introduction</vt:lpstr>
      <vt:lpstr>Artificial Intelligence  Introduction</vt:lpstr>
      <vt:lpstr>Artificial Intelligence  Introduction</vt:lpstr>
      <vt:lpstr>Deep Neural Network Introduction</vt:lpstr>
      <vt:lpstr>Deep Neural Network Introduction</vt:lpstr>
      <vt:lpstr>Building Blocks of Deep Learning</vt:lpstr>
      <vt:lpstr>Inputs and Neurons Building Blocks of Deep Learning</vt:lpstr>
      <vt:lpstr>Inputs and Neurons Building Blocks of Deep Learning</vt:lpstr>
      <vt:lpstr>Activation Functions Building Blocks of Deep Learning</vt:lpstr>
      <vt:lpstr>Activation Functions Building Blocks of Deep Learning</vt:lpstr>
      <vt:lpstr>Multi-Layer Networks Building Blocks of Deep Learning</vt:lpstr>
      <vt:lpstr>Prediction and Loss Function Building Blocks of Deep Learning</vt:lpstr>
      <vt:lpstr>Backward Propagation Building Blocks of Deep Learning</vt:lpstr>
      <vt:lpstr>Optimization and Regularization Building Blocks of Deep Learning</vt:lpstr>
      <vt:lpstr>Evaluation</vt:lpstr>
      <vt:lpstr>Final Model Evaluation</vt:lpstr>
      <vt:lpstr>Error Metrics Evaluation</vt:lpstr>
      <vt:lpstr>Learning Curves &amp; Under/ Overfitting Evaluation</vt:lpstr>
      <vt:lpstr>Learning Curves &amp; Under/ Overfitting Evaluation</vt:lpstr>
      <vt:lpstr>Merci ! Thank you! Obrigado! 谢谢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MARIA DE LA O MACHIMBARRENA GUTIERREZ</dc:creator>
  <cp:lastModifiedBy>Jose Antonio Miranda Mattei</cp:lastModifiedBy>
  <cp:revision>227</cp:revision>
  <dcterms:created xsi:type="dcterms:W3CDTF">2025-04-09T18:41:58Z</dcterms:created>
  <dcterms:modified xsi:type="dcterms:W3CDTF">2026-01-20T23:43:11Z</dcterms:modified>
</cp:coreProperties>
</file>